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324" r:id="rId4"/>
    <p:sldId id="286" r:id="rId5"/>
    <p:sldId id="348" r:id="rId6"/>
    <p:sldId id="339" r:id="rId7"/>
    <p:sldId id="350" r:id="rId8"/>
    <p:sldId id="310" r:id="rId9"/>
    <p:sldId id="327" r:id="rId10"/>
    <p:sldId id="311" r:id="rId11"/>
    <p:sldId id="358" r:id="rId12"/>
    <p:sldId id="312" r:id="rId13"/>
    <p:sldId id="359" r:id="rId14"/>
    <p:sldId id="330" r:id="rId15"/>
    <p:sldId id="351" r:id="rId16"/>
    <p:sldId id="332" r:id="rId17"/>
    <p:sldId id="333" r:id="rId18"/>
    <p:sldId id="334" r:id="rId19"/>
    <p:sldId id="360" r:id="rId20"/>
    <p:sldId id="335" r:id="rId21"/>
    <p:sldId id="337" r:id="rId22"/>
    <p:sldId id="338" r:id="rId23"/>
    <p:sldId id="285" r:id="rId24"/>
    <p:sldId id="361" r:id="rId25"/>
    <p:sldId id="299" r:id="rId2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g/vYjgCa2rWxQ/LFCRlqZQ3UBN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94"/>
  </p:normalViewPr>
  <p:slideViewPr>
    <p:cSldViewPr snapToGrid="0">
      <p:cViewPr varScale="1">
        <p:scale>
          <a:sx n="121" d="100"/>
          <a:sy n="121" d="100"/>
        </p:scale>
        <p:origin x="89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5" Type="http://customschemas.google.com/relationships/presentationmetadata" Target="meta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BBF5F1-44BF-C007-2C6F-861858E654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312625-F06F-82F4-DCEF-098EA1BB1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3715D-F10B-4D45-B66D-AB8CF647156E}" type="datetime1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BCCA12-C961-8D11-D69F-392A24546C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B4359-E0EE-F183-72BC-C7CB2A8581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E4EC2-E053-2C48-9F26-6AF2EE3F8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33775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C55D0297-0667-AF4B-ADC9-6AEC6B5E9392}" type="datetime1">
              <a:rPr lang="en-US" smtClean="0"/>
              <a:t>10/23/25</a:t>
            </a:fld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FF93A1-433E-F15E-23C0-C675BAB522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6E7EEEF1-0C7D-F51F-6737-5C364642EEA5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13112-9096-835D-327F-7A0F24E588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619BB6C-6E67-6D4A-A91A-7BC97B2FD3EB}" type="datetime1">
              <a:rPr lang="en-US" smtClean="0"/>
              <a:t>10/23/25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A5B234-5E86-7A2D-9A34-6C3C6A29DC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FA04571D-A0DC-4B29-37A0-0E04E0369FF3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6A0FF-0C09-5605-5850-A11DEC9B9B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831FD4-9E6E-7047-BC46-35A644E12B23}" type="datetime1">
              <a:rPr lang="en-US" smtClean="0"/>
              <a:t>10/23/25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A5B234-5E86-7A2D-9A34-6C3C6A29DC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FA04571D-A0DC-4B29-37A0-0E04E0369FF3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6A0FF-0C09-5605-5850-A11DEC9B9B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831FD4-9E6E-7047-BC46-35A644E12B23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482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036523f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user encodes x with key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user wishes to discard x and only keep 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 is not known a priori. Make that come later.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Thicker lines on the barrier. Move barriers using animation. 3 workers? What is A? say results or something</a:t>
            </a:r>
            <a:endParaRPr dirty="0"/>
          </a:p>
        </p:txBody>
      </p:sp>
      <p:sp>
        <p:nvSpPr>
          <p:cNvPr id="63" name="Google Shape;63;g2036523f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6D16B0-8178-0555-C40E-C97C6BEAB2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83D227CE-47A1-22FE-734A-FABDBD817F71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922FF-E1BA-0FB7-4574-80DC3C3F5D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8D2CA3E-EA77-514D-9446-DA0503989BA8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87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036523f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user encodes x with key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user wishes to discard x and only keep 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 is not known a priori. Make that come later.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Thicker lines on the barrier. Move barriers using animation. 3 workers? What is A? say results or something</a:t>
            </a:r>
            <a:endParaRPr dirty="0"/>
          </a:p>
        </p:txBody>
      </p:sp>
      <p:sp>
        <p:nvSpPr>
          <p:cNvPr id="63" name="Google Shape;63;g2036523f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6D16B0-8178-0555-C40E-C97C6BEAB2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83D227CE-47A1-22FE-734A-FABDBD817F71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922FF-E1BA-0FB7-4574-80DC3C3F5D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8D2CA3E-EA77-514D-9446-DA0503989BA8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81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036523f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g2036523f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6D16B0-8178-0555-C40E-C97C6BEAB2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83D227CE-47A1-22FE-734A-FABDBD817F71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922FF-E1BA-0FB7-4574-80DC3C3F5D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8D2CA3E-EA77-514D-9446-DA0503989BA8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57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036523f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 is not known during storage</a:t>
            </a:r>
            <a:endParaRPr dirty="0"/>
          </a:p>
        </p:txBody>
      </p:sp>
      <p:sp>
        <p:nvSpPr>
          <p:cNvPr id="63" name="Google Shape;63;g2036523f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6D16B0-8178-0555-C40E-C97C6BEAB2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83D227CE-47A1-22FE-734A-FABDBD817F71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922FF-E1BA-0FB7-4574-80DC3C3F5D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8D2CA3E-EA77-514D-9446-DA0503989BA8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84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Perfect privacy requires a key as big as the data itself, which means…</a:t>
            </a:r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46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Don’t use the binomial notation. Emphasize last bullet</a:t>
            </a:r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53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72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67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Mention </a:t>
            </a:r>
            <a:r>
              <a:rPr lang="en-US"/>
              <a:t>reed-muller code here</a:t>
            </a:r>
            <a:endParaRPr lang="en-US" dirty="0"/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71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Informal def. explain trivial scheme briefly.</a:t>
            </a:r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00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Break monotonicity. Define I.</a:t>
            </a:r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21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196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541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409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73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0208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217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36523f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69" name="Google Shape;69;g2036523f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85F51-351A-9C9A-26B8-EF03220F07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FB7A6D5-5077-6B01-C7A4-F04572CFD46F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2D4C-3AAB-795C-C422-23E20B1E98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52EC96-D158-C240-8B1D-84523F715A32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540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f01e1d22a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f01e1d22a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94" name="Google Shape;94;g1f01e1d22a1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615AD8-996A-F080-235F-EA32E43B72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0BDCFE5D-8E0A-5FE5-BD3C-C1CBC3A7912D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74D75-7380-F0E3-DE1A-0FA57F96F8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8B73363-8760-EC40-A416-5A3CC680EB43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551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f01e1d22a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f01e1d22a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commonplace in communication and signal processing systems</a:t>
            </a:r>
            <a:endParaRPr dirty="0"/>
          </a:p>
        </p:txBody>
      </p:sp>
      <p:sp>
        <p:nvSpPr>
          <p:cNvPr id="94" name="Google Shape;94;g1f01e1d22a1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C743AE-31D6-8650-33C6-C734F75F92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FA2560F6-5859-02EE-FDB0-3ACD75964840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588F2-36BC-4BED-DB86-16E20AD5F5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965DA77-E2B1-A24F-AE68-51E2DE88FA3E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760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f01e1d22a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f01e1d22a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94" name="Google Shape;94;g1f01e1d22a1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5B003F-B7A2-F799-1DE8-9AD37E5A1D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AC6F88AE-925C-6317-AC7E-F506FD74F29E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2BAFF-3E1A-B5B6-FF7C-8F328F88DE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A91809-0E0A-EB4E-A0EB-6AEA37CD1595}" type="datetime1">
              <a:rPr lang="en-US" smtClean="0"/>
              <a:t>10/23/25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65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/>
          <p:nvPr/>
        </p:nvSpPr>
        <p:spPr>
          <a:xfrm>
            <a:off x="228600" y="228600"/>
            <a:ext cx="8686800" cy="6400800"/>
          </a:xfrm>
          <a:prstGeom prst="rect">
            <a:avLst/>
          </a:prstGeom>
          <a:solidFill>
            <a:srgbClr val="A514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37328"/>
          <a:stretch/>
        </p:blipFill>
        <p:spPr>
          <a:xfrm>
            <a:off x="5654452" y="436622"/>
            <a:ext cx="3262720" cy="6025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0"/>
          <p:cNvSpPr txBox="1">
            <a:spLocks noGrp="1"/>
          </p:cNvSpPr>
          <p:nvPr>
            <p:ph type="ctrTitle"/>
          </p:nvPr>
        </p:nvSpPr>
        <p:spPr>
          <a:xfrm>
            <a:off x="550733" y="2253751"/>
            <a:ext cx="4987877" cy="121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ubTitle" idx="1"/>
          </p:nvPr>
        </p:nvSpPr>
        <p:spPr>
          <a:xfrm>
            <a:off x="550733" y="3596777"/>
            <a:ext cx="4987877" cy="480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9" name="Google Shape;19;p10" descr="1linerev(1c)1000-0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8988" y="5851976"/>
            <a:ext cx="3608228" cy="563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>
            <a:spLocks noGrp="1"/>
          </p:cNvSpPr>
          <p:nvPr>
            <p:ph type="body" idx="1"/>
          </p:nvPr>
        </p:nvSpPr>
        <p:spPr>
          <a:xfrm>
            <a:off x="493889" y="1600200"/>
            <a:ext cx="8142111" cy="477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6C7373"/>
              </a:buClr>
              <a:buSzPts val="2800"/>
              <a:buChar char="•"/>
              <a:defRPr>
                <a:solidFill>
                  <a:srgbClr val="6C7373"/>
                </a:solidFill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6C7373"/>
              </a:buClr>
              <a:buSzPts val="2400"/>
              <a:buChar char="–"/>
              <a:defRPr>
                <a:solidFill>
                  <a:srgbClr val="6C7373"/>
                </a:solidFill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6C7373"/>
              </a:buClr>
              <a:buSzPts val="2000"/>
              <a:buChar char="•"/>
              <a:defRPr>
                <a:solidFill>
                  <a:srgbClr val="6C7373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6C7373"/>
              </a:buClr>
              <a:buSzPts val="1800"/>
              <a:buChar char="–"/>
              <a:defRPr>
                <a:solidFill>
                  <a:srgbClr val="6C7373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6C7373"/>
              </a:buClr>
              <a:buSzPts val="1800"/>
              <a:buChar char="»"/>
              <a:defRPr>
                <a:solidFill>
                  <a:srgbClr val="6C7373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465" cy="980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  <a:defRPr>
                <a:solidFill>
                  <a:srgbClr val="6C737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1_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465" cy="980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493889" y="1600200"/>
            <a:ext cx="8142111" cy="477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6C7373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6C7373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C7373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6C7373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6C7373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40472" y="437444"/>
            <a:ext cx="795528" cy="920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/>
          <p:nvPr/>
        </p:nvSpPr>
        <p:spPr>
          <a:xfrm>
            <a:off x="228600" y="228600"/>
            <a:ext cx="8686800" cy="6400800"/>
          </a:xfrm>
          <a:prstGeom prst="rect">
            <a:avLst/>
          </a:prstGeom>
          <a:solidFill>
            <a:srgbClr val="6C73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4" name="Google Shape;44;p18"/>
          <p:cNvSpPr txBox="1">
            <a:spLocks noGrp="1"/>
          </p:cNvSpPr>
          <p:nvPr>
            <p:ph type="ctrTitle"/>
          </p:nvPr>
        </p:nvSpPr>
        <p:spPr>
          <a:xfrm>
            <a:off x="550733" y="2253751"/>
            <a:ext cx="4987877" cy="121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subTitle" idx="1"/>
          </p:nvPr>
        </p:nvSpPr>
        <p:spPr>
          <a:xfrm>
            <a:off x="550733" y="3596777"/>
            <a:ext cx="4987877" cy="480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6" name="Google Shape;46;p18" descr="1linerev(1c)1000-0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8988" y="5851976"/>
            <a:ext cx="3608228" cy="563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8"/>
          <p:cNvPicPr preferRelativeResize="0"/>
          <p:nvPr/>
        </p:nvPicPr>
        <p:blipFill rotWithShape="1">
          <a:blip r:embed="rId3">
            <a:alphaModFix/>
          </a:blip>
          <a:srcRect r="37328"/>
          <a:stretch/>
        </p:blipFill>
        <p:spPr>
          <a:xfrm>
            <a:off x="5654452" y="436622"/>
            <a:ext cx="3262720" cy="6025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/>
          <p:nvPr/>
        </p:nvSpPr>
        <p:spPr>
          <a:xfrm>
            <a:off x="228600" y="228600"/>
            <a:ext cx="8686800" cy="64008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1" name="Google Shape;11;p9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465" cy="980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  <a:defRPr sz="3600" b="0" i="0" u="none" strike="noStrike" cap="none">
                <a:solidFill>
                  <a:srgbClr val="6C73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body" idx="1"/>
          </p:nvPr>
        </p:nvSpPr>
        <p:spPr>
          <a:xfrm>
            <a:off x="493889" y="1600200"/>
            <a:ext cx="8142111" cy="477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6C737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6C737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6C7373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6C737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C7373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6C737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rgbClr val="6C7373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6C737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6C7373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6C737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pic>
        <p:nvPicPr>
          <p:cNvPr id="13" name="Google Shape;13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40472" y="437444"/>
            <a:ext cx="795528" cy="92049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7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0.png"/><Relationship Id="rId7" Type="http://schemas.openxmlformats.org/officeDocument/2006/relationships/image" Target="../media/image16.png"/><Relationship Id="rId12" Type="http://schemas.openxmlformats.org/officeDocument/2006/relationships/image" Target="../media/image1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0" Type="http://schemas.openxmlformats.org/officeDocument/2006/relationships/image" Target="../media/image140.png"/><Relationship Id="rId4" Type="http://schemas.openxmlformats.org/officeDocument/2006/relationships/image" Target="../media/image13.png"/><Relationship Id="rId9" Type="http://schemas.openxmlformats.org/officeDocument/2006/relationships/image" Target="../media/image1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5.png"/><Relationship Id="rId3" Type="http://schemas.openxmlformats.org/officeDocument/2006/relationships/image" Target="../media/image170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11" Type="http://schemas.openxmlformats.org/officeDocument/2006/relationships/image" Target="../media/image23.png"/><Relationship Id="rId5" Type="http://schemas.openxmlformats.org/officeDocument/2006/relationships/image" Target="../media/image181.png"/><Relationship Id="rId10" Type="http://schemas.openxmlformats.org/officeDocument/2006/relationships/image" Target="../media/image22.png"/><Relationship Id="rId4" Type="http://schemas.openxmlformats.org/officeDocument/2006/relationships/image" Target="../media/image161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537166" y="3740194"/>
            <a:ext cx="49878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SzPts val="1540"/>
            </a:pPr>
            <a:r>
              <a:rPr lang="en-US" sz="2400" dirty="0">
                <a:latin typeface="+mj-lt"/>
              </a:rPr>
              <a:t>Perfect Subset Privacy in Polynomial Computation</a:t>
            </a:r>
            <a:br>
              <a:rPr lang="en-US" sz="2400" dirty="0">
                <a:latin typeface="+mj-lt"/>
              </a:rPr>
            </a:b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chemeClr val="bg1"/>
                </a:solidFill>
                <a:latin typeface="+mj-lt"/>
              </a:rPr>
              <a:t>IEEE International Symposium on Information Theory</a:t>
            </a:r>
            <a:br>
              <a:rPr lang="en-US" sz="2400" dirty="0">
                <a:solidFill>
                  <a:schemeClr val="bg1"/>
                </a:solidFill>
                <a:latin typeface="+mj-lt"/>
              </a:rPr>
            </a:br>
            <a:r>
              <a:rPr lang="en-US" sz="2400" dirty="0">
                <a:solidFill>
                  <a:schemeClr val="bg1"/>
                </a:solidFill>
                <a:latin typeface="+mj-lt"/>
              </a:rPr>
              <a:t>Athens, Greece, July 2024</a:t>
            </a:r>
            <a:br>
              <a:rPr lang="en-US" sz="2400" dirty="0">
                <a:solidFill>
                  <a:schemeClr val="bg1"/>
                </a:solidFill>
                <a:latin typeface="+mj-lt"/>
              </a:rPr>
            </a:br>
            <a:br>
              <a:rPr lang="en-US" sz="2400" dirty="0">
                <a:solidFill>
                  <a:schemeClr val="bg1"/>
                </a:solidFill>
                <a:latin typeface="+mj-lt"/>
              </a:rPr>
            </a:br>
            <a:r>
              <a:rPr lang="en-US" sz="2200" dirty="0">
                <a:latin typeface="+mj-lt"/>
              </a:rPr>
              <a:t>Ken Deng, Vinayak Ramkumar, Netanel </a:t>
            </a:r>
            <a:r>
              <a:rPr lang="en-US" sz="2200" dirty="0" err="1">
                <a:latin typeface="+mj-lt"/>
              </a:rPr>
              <a:t>Raviv</a:t>
            </a:r>
            <a:br>
              <a:rPr lang="en-US" sz="2400" dirty="0">
                <a:latin typeface="+mj-lt"/>
              </a:rPr>
            </a:br>
            <a:br>
              <a:rPr lang="en-US" sz="2400" dirty="0">
                <a:solidFill>
                  <a:schemeClr val="bg1"/>
                </a:solidFill>
                <a:latin typeface="+mj-lt"/>
              </a:rPr>
            </a:br>
            <a:br>
              <a:rPr lang="en-US" dirty="0"/>
            </a:br>
            <a:endParaRPr dirty="0"/>
          </a:p>
        </p:txBody>
      </p:sp>
      <p:sp>
        <p:nvSpPr>
          <p:cNvPr id="53" name="Google Shape;53;p1"/>
          <p:cNvSpPr txBox="1">
            <a:spLocks noGrp="1"/>
          </p:cNvSpPr>
          <p:nvPr>
            <p:ph type="subTitle" idx="1"/>
          </p:nvPr>
        </p:nvSpPr>
        <p:spPr>
          <a:xfrm>
            <a:off x="437143" y="4428694"/>
            <a:ext cx="5187846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lnSpc>
                <a:spcPct val="80000"/>
              </a:lnSpc>
              <a:spcBef>
                <a:spcPts val="0"/>
              </a:spcBef>
              <a:buSzPts val="1540"/>
            </a:pPr>
            <a:endParaRPr lang="en-US" dirty="0"/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SzPts val="1540"/>
            </a:pPr>
            <a:endParaRPr lang="en-US" dirty="0"/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SzPts val="1540"/>
            </a:pPr>
            <a:endParaRPr lang="en-US" dirty="0"/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SzPts val="1540"/>
            </a:pPr>
            <a:endParaRPr lang="en-US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40"/>
              <a:buNone/>
            </a:pPr>
            <a:endParaRPr sz="3440" dirty="0"/>
          </a:p>
        </p:txBody>
      </p:sp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A9370382-62DF-186D-2ADD-56ED4B7ED961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465" cy="980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Motivation</a:t>
            </a:r>
            <a:endParaRPr dirty="0"/>
          </a:p>
        </p:txBody>
      </p:sp>
      <p:sp>
        <p:nvSpPr>
          <p:cNvPr id="60" name="Google Shape;60;p2"/>
          <p:cNvSpPr txBox="1">
            <a:spLocks noGrp="1"/>
          </p:cNvSpPr>
          <p:nvPr>
            <p:ph type="body" idx="1"/>
          </p:nvPr>
        </p:nvSpPr>
        <p:spPr>
          <a:xfrm>
            <a:off x="493889" y="1600200"/>
            <a:ext cx="8142111" cy="477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Char char="●"/>
            </a:pPr>
            <a:r>
              <a:rPr lang="en-US" sz="2200" dirty="0"/>
              <a:t>Assigning large-scale computations to service providers raises privacy problems.</a:t>
            </a:r>
          </a:p>
          <a:p>
            <a:pPr indent="-379730" algn="just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●"/>
            </a:pPr>
            <a:r>
              <a:rPr lang="en-US" sz="2200" dirty="0"/>
              <a:t>Coded computing: application of error-correcting codes in distributed computations.</a:t>
            </a:r>
          </a:p>
          <a:p>
            <a:pPr lvl="1" indent="-346710" algn="just">
              <a:lnSpc>
                <a:spcPct val="130000"/>
              </a:lnSpc>
              <a:spcBef>
                <a:spcPts val="0"/>
              </a:spcBef>
              <a:buSzPct val="100000"/>
              <a:buFont typeface="Arial"/>
              <a:buChar char="○"/>
            </a:pPr>
            <a:r>
              <a:rPr lang="en-US" sz="2200" dirty="0"/>
              <a:t>Used to address stragglers, adversaries, and privacy issues.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Char char="●"/>
            </a:pPr>
            <a:r>
              <a:rPr lang="en-US" sz="2200" dirty="0"/>
              <a:t>Some level of restricted collusion is usually assumed among workers in the system.</a:t>
            </a:r>
          </a:p>
          <a:p>
            <a:pPr lvl="1" indent="-346710" algn="just">
              <a:lnSpc>
                <a:spcPct val="130000"/>
              </a:lnSpc>
              <a:spcBef>
                <a:spcPts val="0"/>
              </a:spcBef>
              <a:buSzPct val="100000"/>
              <a:buFont typeface="Arial"/>
              <a:buChar char="○"/>
            </a:pPr>
            <a:r>
              <a:rPr lang="en-US" sz="2200" dirty="0"/>
              <a:t>The system administrator is </a:t>
            </a:r>
            <a:r>
              <a:rPr lang="en-US" sz="2200" u="sng" dirty="0"/>
              <a:t>trusted</a:t>
            </a:r>
            <a:r>
              <a:rPr lang="en-US" sz="2200" dirty="0"/>
              <a:t>.</a:t>
            </a:r>
          </a:p>
          <a:p>
            <a:pPr indent="-379730" algn="just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●"/>
            </a:pPr>
            <a:endParaRPr sz="22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</p:txBody>
      </p:sp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42270301-3D9D-2537-9AA9-DE470EBE9066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465" cy="980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Motivation</a:t>
            </a:r>
            <a:endParaRPr dirty="0"/>
          </a:p>
        </p:txBody>
      </p:sp>
      <p:sp>
        <p:nvSpPr>
          <p:cNvPr id="60" name="Google Shape;60;p2"/>
          <p:cNvSpPr txBox="1">
            <a:spLocks noGrp="1"/>
          </p:cNvSpPr>
          <p:nvPr>
            <p:ph type="body" idx="1"/>
          </p:nvPr>
        </p:nvSpPr>
        <p:spPr>
          <a:xfrm>
            <a:off x="493889" y="1600200"/>
            <a:ext cx="8142111" cy="477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Char char="●"/>
            </a:pPr>
            <a:r>
              <a:rPr lang="en-US" sz="2200" dirty="0"/>
              <a:t>What about the setting where a user relies on a single </a:t>
            </a:r>
            <a:r>
              <a:rPr lang="en-US" sz="2200" u="sng" dirty="0"/>
              <a:t>untrusted</a:t>
            </a:r>
            <a:r>
              <a:rPr lang="en-US" sz="2200" dirty="0"/>
              <a:t> service provider that introduces a privacy risk?</a:t>
            </a:r>
          </a:p>
          <a:p>
            <a:pPr lvl="1" indent="-346710" algn="just">
              <a:lnSpc>
                <a:spcPct val="130000"/>
              </a:lnSpc>
              <a:spcBef>
                <a:spcPts val="0"/>
              </a:spcBef>
              <a:buSzPct val="100000"/>
              <a:buFont typeface="Arial"/>
              <a:buChar char="○"/>
            </a:pPr>
            <a:r>
              <a:rPr lang="en-US" sz="2200" dirty="0"/>
              <a:t>Very common nowadays (Amazon Web Services, Google Cloud, etc.)</a:t>
            </a:r>
          </a:p>
          <a:p>
            <a:pPr lvl="1" indent="-346710" algn="just">
              <a:lnSpc>
                <a:spcPct val="130000"/>
              </a:lnSpc>
              <a:spcBef>
                <a:spcPts val="0"/>
              </a:spcBef>
              <a:buSzPct val="100000"/>
              <a:buFont typeface="Arial"/>
              <a:buChar char="○"/>
            </a:pPr>
            <a:endParaRPr lang="en-US" sz="2200" dirty="0"/>
          </a:p>
          <a:p>
            <a:pPr lvl="0">
              <a:lnSpc>
                <a:spcPct val="150000"/>
              </a:lnSpc>
              <a:spcBef>
                <a:spcPts val="0"/>
              </a:spcBef>
              <a:buChar char="●"/>
            </a:pPr>
            <a:r>
              <a:rPr lang="en-US" sz="2200" dirty="0"/>
              <a:t>We seek to extend the scope of coded computation settings to protect privacy against the service provider as a whole.</a:t>
            </a:r>
          </a:p>
          <a:p>
            <a:pPr lvl="1" indent="-346710" algn="just">
              <a:lnSpc>
                <a:spcPct val="130000"/>
              </a:lnSpc>
              <a:spcBef>
                <a:spcPts val="0"/>
              </a:spcBef>
              <a:buSzPct val="100000"/>
              <a:buFont typeface="Arial"/>
              <a:buChar char="○"/>
            </a:pPr>
            <a:r>
              <a:rPr lang="en-US" sz="2200" dirty="0"/>
              <a:t>The service provider has access to all of the data, which means assuming restricted collusion is not relevant.</a:t>
            </a:r>
          </a:p>
          <a:p>
            <a:pPr indent="-379730" algn="just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●"/>
            </a:pPr>
            <a:endParaRPr sz="2600"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42270301-3D9D-2537-9AA9-DE470EBE9066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1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36523f86c_0_0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Shifting the “Privacy Barrier”</a:t>
            </a:r>
            <a:endParaRPr dirty="0"/>
          </a:p>
        </p:txBody>
      </p:sp>
      <p:sp>
        <p:nvSpPr>
          <p:cNvPr id="66" name="Google Shape;66;g2036523f86c_0_0"/>
          <p:cNvSpPr txBox="1">
            <a:spLocks noGrp="1"/>
          </p:cNvSpPr>
          <p:nvPr>
            <p:ph type="body" idx="1"/>
          </p:nvPr>
        </p:nvSpPr>
        <p:spPr>
          <a:xfrm>
            <a:off x="493889" y="1810402"/>
            <a:ext cx="8142000" cy="47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C6F4FF-F22B-1FFD-8BDD-BDB4303344E1}"/>
              </a:ext>
            </a:extLst>
          </p:cNvPr>
          <p:cNvSpPr txBox="1"/>
          <p:nvPr/>
        </p:nvSpPr>
        <p:spPr>
          <a:xfrm>
            <a:off x="999241" y="-10369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7B5333-909A-BB1F-B507-995A076D9186}"/>
                  </a:ext>
                </a:extLst>
              </p:cNvPr>
              <p:cNvSpPr txBox="1"/>
              <p:nvPr/>
            </p:nvSpPr>
            <p:spPr>
              <a:xfrm>
                <a:off x="2811740" y="2324640"/>
                <a:ext cx="448584" cy="477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7B5333-909A-BB1F-B507-995A076D9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740" y="2324640"/>
                <a:ext cx="448584" cy="477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45;p1">
            <a:extLst>
              <a:ext uri="{FF2B5EF4-FFF2-40B4-BE49-F238E27FC236}">
                <a16:creationId xmlns:a16="http://schemas.microsoft.com/office/drawing/2014/main" id="{915D1A44-B342-47DC-D34E-6E396B7531E6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4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1B8C48B-8C57-1D1C-32D2-0AB166BEFCB2}"/>
              </a:ext>
            </a:extLst>
          </p:cNvPr>
          <p:cNvSpPr/>
          <p:nvPr/>
        </p:nvSpPr>
        <p:spPr>
          <a:xfrm>
            <a:off x="809296" y="2396946"/>
            <a:ext cx="1208689" cy="194809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User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6A2F442-0D6D-9FDB-F3FA-9077882FF885}"/>
              </a:ext>
            </a:extLst>
          </p:cNvPr>
          <p:cNvCxnSpPr>
            <a:cxnSpLocks/>
          </p:cNvCxnSpPr>
          <p:nvPr/>
        </p:nvCxnSpPr>
        <p:spPr>
          <a:xfrm>
            <a:off x="2214915" y="2779327"/>
            <a:ext cx="15686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4CFCBB-701C-4F27-F25B-9F51D3D08743}"/>
              </a:ext>
            </a:extLst>
          </p:cNvPr>
          <p:cNvSpPr/>
          <p:nvPr/>
        </p:nvSpPr>
        <p:spPr>
          <a:xfrm>
            <a:off x="4118247" y="2396946"/>
            <a:ext cx="1208689" cy="194809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Admin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n 12">
                <a:extLst>
                  <a:ext uri="{FF2B5EF4-FFF2-40B4-BE49-F238E27FC236}">
                    <a16:creationId xmlns:a16="http://schemas.microsoft.com/office/drawing/2014/main" id="{13379322-F7A7-8B85-2E41-5E3730EF1B13}"/>
                  </a:ext>
                </a:extLst>
              </p:cNvPr>
              <p:cNvSpPr/>
              <p:nvPr/>
            </p:nvSpPr>
            <p:spPr>
              <a:xfrm>
                <a:off x="6822853" y="1861108"/>
                <a:ext cx="1208689" cy="987973"/>
              </a:xfrm>
              <a:prstGeom prst="can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Worker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n 12">
                <a:extLst>
                  <a:ext uri="{FF2B5EF4-FFF2-40B4-BE49-F238E27FC236}">
                    <a16:creationId xmlns:a16="http://schemas.microsoft.com/office/drawing/2014/main" id="{13379322-F7A7-8B85-2E41-5E3730EF1B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853" y="1861108"/>
                <a:ext cx="1208689" cy="987973"/>
              </a:xfrm>
              <a:prstGeom prst="can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n 13">
                <a:extLst>
                  <a:ext uri="{FF2B5EF4-FFF2-40B4-BE49-F238E27FC236}">
                    <a16:creationId xmlns:a16="http://schemas.microsoft.com/office/drawing/2014/main" id="{49D9A4AA-FCDB-EC7F-D0AB-BEA1EC691532}"/>
                  </a:ext>
                </a:extLst>
              </p:cNvPr>
              <p:cNvSpPr/>
              <p:nvPr/>
            </p:nvSpPr>
            <p:spPr>
              <a:xfrm>
                <a:off x="6822852" y="3031737"/>
                <a:ext cx="1208689" cy="987973"/>
              </a:xfrm>
              <a:prstGeom prst="can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Worker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Can 13">
                <a:extLst>
                  <a:ext uri="{FF2B5EF4-FFF2-40B4-BE49-F238E27FC236}">
                    <a16:creationId xmlns:a16="http://schemas.microsoft.com/office/drawing/2014/main" id="{49D9A4AA-FCDB-EC7F-D0AB-BEA1EC691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852" y="3031737"/>
                <a:ext cx="1208689" cy="987973"/>
              </a:xfrm>
              <a:prstGeom prst="can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n 14">
                <a:extLst>
                  <a:ext uri="{FF2B5EF4-FFF2-40B4-BE49-F238E27FC236}">
                    <a16:creationId xmlns:a16="http://schemas.microsoft.com/office/drawing/2014/main" id="{259F4E86-ABF0-D9C1-2A1F-10D8985CD3AB}"/>
                  </a:ext>
                </a:extLst>
              </p:cNvPr>
              <p:cNvSpPr/>
              <p:nvPr/>
            </p:nvSpPr>
            <p:spPr>
              <a:xfrm>
                <a:off x="6822851" y="4224805"/>
                <a:ext cx="1208689" cy="987973"/>
              </a:xfrm>
              <a:prstGeom prst="can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Worker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an 14">
                <a:extLst>
                  <a:ext uri="{FF2B5EF4-FFF2-40B4-BE49-F238E27FC236}">
                    <a16:creationId xmlns:a16="http://schemas.microsoft.com/office/drawing/2014/main" id="{259F4E86-ABF0-D9C1-2A1F-10D8985CD3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851" y="4224805"/>
                <a:ext cx="1208689" cy="987973"/>
              </a:xfrm>
              <a:prstGeom prst="can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7BAE9F2-3584-0E88-02A9-962F3D9A6D6D}"/>
              </a:ext>
            </a:extLst>
          </p:cNvPr>
          <p:cNvCxnSpPr>
            <a:cxnSpLocks/>
          </p:cNvCxnSpPr>
          <p:nvPr/>
        </p:nvCxnSpPr>
        <p:spPr>
          <a:xfrm flipV="1">
            <a:off x="5384582" y="2355094"/>
            <a:ext cx="1409337" cy="716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AE792D0-56EC-7ABB-764F-FF5595072BEB}"/>
              </a:ext>
            </a:extLst>
          </p:cNvPr>
          <p:cNvCxnSpPr>
            <a:cxnSpLocks/>
          </p:cNvCxnSpPr>
          <p:nvPr/>
        </p:nvCxnSpPr>
        <p:spPr>
          <a:xfrm>
            <a:off x="5384582" y="3370992"/>
            <a:ext cx="13954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2A6994-ABF5-A370-624C-E042EA7519EC}"/>
              </a:ext>
            </a:extLst>
          </p:cNvPr>
          <p:cNvCxnSpPr>
            <a:cxnSpLocks/>
          </p:cNvCxnSpPr>
          <p:nvPr/>
        </p:nvCxnSpPr>
        <p:spPr>
          <a:xfrm>
            <a:off x="5384582" y="3639202"/>
            <a:ext cx="1361089" cy="971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FFB881C-8E9B-79EB-EBEE-C24F3F7896FD}"/>
                  </a:ext>
                </a:extLst>
              </p:cNvPr>
              <p:cNvSpPr/>
              <p:nvPr/>
            </p:nvSpPr>
            <p:spPr>
              <a:xfrm>
                <a:off x="631071" y="5343323"/>
                <a:ext cx="1519622" cy="768548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FFB881C-8E9B-79EB-EBEE-C24F3F7896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71" y="5343323"/>
                <a:ext cx="1519622" cy="768548"/>
              </a:xfrm>
              <a:prstGeom prst="rect">
                <a:avLst/>
              </a:prstGeom>
              <a:blipFill>
                <a:blip r:embed="rId7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251F910-FADF-7902-C3FC-10C850059B61}"/>
              </a:ext>
            </a:extLst>
          </p:cNvPr>
          <p:cNvCxnSpPr>
            <a:cxnSpLocks/>
          </p:cNvCxnSpPr>
          <p:nvPr/>
        </p:nvCxnSpPr>
        <p:spPr>
          <a:xfrm>
            <a:off x="1183972" y="4382459"/>
            <a:ext cx="0" cy="923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2D96C69-4355-1B98-4431-B96F900D82D8}"/>
                  </a:ext>
                </a:extLst>
              </p:cNvPr>
              <p:cNvSpPr txBox="1"/>
              <p:nvPr/>
            </p:nvSpPr>
            <p:spPr>
              <a:xfrm>
                <a:off x="855962" y="4597225"/>
                <a:ext cx="4122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2D96C69-4355-1B98-4431-B96F900D8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62" y="4597225"/>
                <a:ext cx="41229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669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 animBg="1"/>
      <p:bldP spid="12" grpId="0" animBg="1"/>
      <p:bldP spid="13" grpId="0" animBg="1"/>
      <p:bldP spid="14" grpId="0" animBg="1"/>
      <p:bldP spid="15" grpId="0" animBg="1"/>
      <p:bldP spid="44" grpId="0" animBg="1"/>
      <p:bldP spid="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36523f86c_0_0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Shifting the “Privacy Barrier”</a:t>
            </a:r>
            <a:endParaRPr dirty="0"/>
          </a:p>
        </p:txBody>
      </p:sp>
      <p:sp>
        <p:nvSpPr>
          <p:cNvPr id="66" name="Google Shape;66;g2036523f86c_0_0"/>
          <p:cNvSpPr txBox="1">
            <a:spLocks noGrp="1"/>
          </p:cNvSpPr>
          <p:nvPr>
            <p:ph type="body" idx="1"/>
          </p:nvPr>
        </p:nvSpPr>
        <p:spPr>
          <a:xfrm>
            <a:off x="493889" y="1810402"/>
            <a:ext cx="8142000" cy="47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C6F4FF-F22B-1FFD-8BDD-BDB4303344E1}"/>
              </a:ext>
            </a:extLst>
          </p:cNvPr>
          <p:cNvSpPr txBox="1"/>
          <p:nvPr/>
        </p:nvSpPr>
        <p:spPr>
          <a:xfrm>
            <a:off x="999241" y="-10369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7B5333-909A-BB1F-B507-995A076D9186}"/>
                  </a:ext>
                </a:extLst>
              </p:cNvPr>
              <p:cNvSpPr txBox="1"/>
              <p:nvPr/>
            </p:nvSpPr>
            <p:spPr>
              <a:xfrm>
                <a:off x="2811740" y="2324640"/>
                <a:ext cx="448584" cy="477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7B5333-909A-BB1F-B507-995A076D9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740" y="2324640"/>
                <a:ext cx="448584" cy="477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45;p1">
            <a:extLst>
              <a:ext uri="{FF2B5EF4-FFF2-40B4-BE49-F238E27FC236}">
                <a16:creationId xmlns:a16="http://schemas.microsoft.com/office/drawing/2014/main" id="{915D1A44-B342-47DC-D34E-6E396B7531E6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5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1B8C48B-8C57-1D1C-32D2-0AB166BEFCB2}"/>
              </a:ext>
            </a:extLst>
          </p:cNvPr>
          <p:cNvSpPr/>
          <p:nvPr/>
        </p:nvSpPr>
        <p:spPr>
          <a:xfrm>
            <a:off x="809296" y="2396946"/>
            <a:ext cx="1208689" cy="194809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User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6A2F442-0D6D-9FDB-F3FA-9077882FF885}"/>
              </a:ext>
            </a:extLst>
          </p:cNvPr>
          <p:cNvCxnSpPr>
            <a:cxnSpLocks/>
          </p:cNvCxnSpPr>
          <p:nvPr/>
        </p:nvCxnSpPr>
        <p:spPr>
          <a:xfrm>
            <a:off x="2214915" y="2779327"/>
            <a:ext cx="15686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4CFCBB-701C-4F27-F25B-9F51D3D08743}"/>
              </a:ext>
            </a:extLst>
          </p:cNvPr>
          <p:cNvSpPr/>
          <p:nvPr/>
        </p:nvSpPr>
        <p:spPr>
          <a:xfrm>
            <a:off x="4118247" y="2396946"/>
            <a:ext cx="1208689" cy="194809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Admin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n 12">
                <a:extLst>
                  <a:ext uri="{FF2B5EF4-FFF2-40B4-BE49-F238E27FC236}">
                    <a16:creationId xmlns:a16="http://schemas.microsoft.com/office/drawing/2014/main" id="{13379322-F7A7-8B85-2E41-5E3730EF1B13}"/>
                  </a:ext>
                </a:extLst>
              </p:cNvPr>
              <p:cNvSpPr/>
              <p:nvPr/>
            </p:nvSpPr>
            <p:spPr>
              <a:xfrm>
                <a:off x="6822853" y="1861108"/>
                <a:ext cx="1208689" cy="987973"/>
              </a:xfrm>
              <a:prstGeom prst="can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Worker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n 12">
                <a:extLst>
                  <a:ext uri="{FF2B5EF4-FFF2-40B4-BE49-F238E27FC236}">
                    <a16:creationId xmlns:a16="http://schemas.microsoft.com/office/drawing/2014/main" id="{13379322-F7A7-8B85-2E41-5E3730EF1B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853" y="1861108"/>
                <a:ext cx="1208689" cy="987973"/>
              </a:xfrm>
              <a:prstGeom prst="can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n 13">
                <a:extLst>
                  <a:ext uri="{FF2B5EF4-FFF2-40B4-BE49-F238E27FC236}">
                    <a16:creationId xmlns:a16="http://schemas.microsoft.com/office/drawing/2014/main" id="{49D9A4AA-FCDB-EC7F-D0AB-BEA1EC691532}"/>
                  </a:ext>
                </a:extLst>
              </p:cNvPr>
              <p:cNvSpPr/>
              <p:nvPr/>
            </p:nvSpPr>
            <p:spPr>
              <a:xfrm>
                <a:off x="6822852" y="3031737"/>
                <a:ext cx="1208689" cy="987973"/>
              </a:xfrm>
              <a:prstGeom prst="can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Worker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Can 13">
                <a:extLst>
                  <a:ext uri="{FF2B5EF4-FFF2-40B4-BE49-F238E27FC236}">
                    <a16:creationId xmlns:a16="http://schemas.microsoft.com/office/drawing/2014/main" id="{49D9A4AA-FCDB-EC7F-D0AB-BEA1EC691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852" y="3031737"/>
                <a:ext cx="1208689" cy="987973"/>
              </a:xfrm>
              <a:prstGeom prst="can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n 14">
                <a:extLst>
                  <a:ext uri="{FF2B5EF4-FFF2-40B4-BE49-F238E27FC236}">
                    <a16:creationId xmlns:a16="http://schemas.microsoft.com/office/drawing/2014/main" id="{259F4E86-ABF0-D9C1-2A1F-10D8985CD3AB}"/>
                  </a:ext>
                </a:extLst>
              </p:cNvPr>
              <p:cNvSpPr/>
              <p:nvPr/>
            </p:nvSpPr>
            <p:spPr>
              <a:xfrm>
                <a:off x="6822851" y="4224805"/>
                <a:ext cx="1208689" cy="987973"/>
              </a:xfrm>
              <a:prstGeom prst="can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Worker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an 14">
                <a:extLst>
                  <a:ext uri="{FF2B5EF4-FFF2-40B4-BE49-F238E27FC236}">
                    <a16:creationId xmlns:a16="http://schemas.microsoft.com/office/drawing/2014/main" id="{259F4E86-ABF0-D9C1-2A1F-10D8985CD3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851" y="4224805"/>
                <a:ext cx="1208689" cy="987973"/>
              </a:xfrm>
              <a:prstGeom prst="can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7BAE9F2-3584-0E88-02A9-962F3D9A6D6D}"/>
              </a:ext>
            </a:extLst>
          </p:cNvPr>
          <p:cNvCxnSpPr>
            <a:cxnSpLocks/>
          </p:cNvCxnSpPr>
          <p:nvPr/>
        </p:nvCxnSpPr>
        <p:spPr>
          <a:xfrm flipV="1">
            <a:off x="5384582" y="2355094"/>
            <a:ext cx="1409337" cy="716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AE792D0-56EC-7ABB-764F-FF5595072BEB}"/>
              </a:ext>
            </a:extLst>
          </p:cNvPr>
          <p:cNvCxnSpPr>
            <a:cxnSpLocks/>
          </p:cNvCxnSpPr>
          <p:nvPr/>
        </p:nvCxnSpPr>
        <p:spPr>
          <a:xfrm>
            <a:off x="5384582" y="3370992"/>
            <a:ext cx="13954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2A6994-ABF5-A370-624C-E042EA7519EC}"/>
              </a:ext>
            </a:extLst>
          </p:cNvPr>
          <p:cNvCxnSpPr>
            <a:cxnSpLocks/>
          </p:cNvCxnSpPr>
          <p:nvPr/>
        </p:nvCxnSpPr>
        <p:spPr>
          <a:xfrm>
            <a:off x="5384582" y="3639202"/>
            <a:ext cx="1361089" cy="971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8C27DBB-CDF7-4A03-19C8-CF10980F86D1}"/>
              </a:ext>
            </a:extLst>
          </p:cNvPr>
          <p:cNvCxnSpPr>
            <a:cxnSpLocks/>
          </p:cNvCxnSpPr>
          <p:nvPr/>
        </p:nvCxnSpPr>
        <p:spPr>
          <a:xfrm>
            <a:off x="2214914" y="3362651"/>
            <a:ext cx="156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3549E08-369C-8D84-0BAD-FA9D85D43BCF}"/>
              </a:ext>
            </a:extLst>
          </p:cNvPr>
          <p:cNvCxnSpPr>
            <a:cxnSpLocks/>
          </p:cNvCxnSpPr>
          <p:nvPr/>
        </p:nvCxnSpPr>
        <p:spPr>
          <a:xfrm flipH="1" flipV="1">
            <a:off x="2171544" y="4024803"/>
            <a:ext cx="1612010" cy="9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DB4FBEF-3D58-ED52-C2AE-460482B7A7B7}"/>
                  </a:ext>
                </a:extLst>
              </p:cNvPr>
              <p:cNvSpPr txBox="1"/>
              <p:nvPr/>
            </p:nvSpPr>
            <p:spPr>
              <a:xfrm>
                <a:off x="2871810" y="2910071"/>
                <a:ext cx="2548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DB4FBEF-3D58-ED52-C2AE-460482B7A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810" y="2910071"/>
                <a:ext cx="254847" cy="461665"/>
              </a:xfrm>
              <a:prstGeom prst="rect">
                <a:avLst/>
              </a:prstGeom>
              <a:blipFill>
                <a:blip r:embed="rId7"/>
                <a:stretch>
                  <a:fillRect l="-19048" r="-52381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B661E68F-025B-F8B7-6A8B-FC12FF65804B}"/>
              </a:ext>
            </a:extLst>
          </p:cNvPr>
          <p:cNvSpPr txBox="1"/>
          <p:nvPr/>
        </p:nvSpPr>
        <p:spPr>
          <a:xfrm>
            <a:off x="2478898" y="3615609"/>
            <a:ext cx="1040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i="0" dirty="0">
                <a:latin typeface="+mj-lt"/>
                <a:ea typeface="Cambria Math" panose="02040503050406030204" pitchFamily="18" charset="0"/>
              </a:rPr>
              <a:t>Results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FFB881C-8E9B-79EB-EBEE-C24F3F7896FD}"/>
                  </a:ext>
                </a:extLst>
              </p:cNvPr>
              <p:cNvSpPr/>
              <p:nvPr/>
            </p:nvSpPr>
            <p:spPr>
              <a:xfrm>
                <a:off x="631071" y="5343323"/>
                <a:ext cx="1519622" cy="768548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FFB881C-8E9B-79EB-EBEE-C24F3F7896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71" y="5343323"/>
                <a:ext cx="1519622" cy="7685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251F910-FADF-7902-C3FC-10C850059B61}"/>
              </a:ext>
            </a:extLst>
          </p:cNvPr>
          <p:cNvCxnSpPr>
            <a:cxnSpLocks/>
          </p:cNvCxnSpPr>
          <p:nvPr/>
        </p:nvCxnSpPr>
        <p:spPr>
          <a:xfrm>
            <a:off x="1183972" y="4382459"/>
            <a:ext cx="0" cy="923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3ADD894-0BFF-CFD4-C94E-BE7D74FECD11}"/>
              </a:ext>
            </a:extLst>
          </p:cNvPr>
          <p:cNvCxnSpPr>
            <a:cxnSpLocks/>
          </p:cNvCxnSpPr>
          <p:nvPr/>
        </p:nvCxnSpPr>
        <p:spPr>
          <a:xfrm>
            <a:off x="1662193" y="4382459"/>
            <a:ext cx="0" cy="923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2D96C69-4355-1B98-4431-B96F900D82D8}"/>
                  </a:ext>
                </a:extLst>
              </p:cNvPr>
              <p:cNvSpPr txBox="1"/>
              <p:nvPr/>
            </p:nvSpPr>
            <p:spPr>
              <a:xfrm>
                <a:off x="855962" y="4597225"/>
                <a:ext cx="4122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2D96C69-4355-1B98-4431-B96F900D8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62" y="4597225"/>
                <a:ext cx="41229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ABCEFF0A-806C-BB71-A7E5-F76EF92977F9}"/>
              </a:ext>
            </a:extLst>
          </p:cNvPr>
          <p:cNvSpPr txBox="1"/>
          <p:nvPr/>
        </p:nvSpPr>
        <p:spPr>
          <a:xfrm>
            <a:off x="1596264" y="4610093"/>
            <a:ext cx="104067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i="0" dirty="0">
                <a:latin typeface="+mj-lt"/>
                <a:ea typeface="Cambria Math" panose="02040503050406030204" pitchFamily="18" charset="0"/>
              </a:rPr>
              <a:t>Results</a:t>
            </a:r>
            <a:endParaRPr lang="en-US" sz="2000" dirty="0"/>
          </a:p>
          <a:p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F651895-8C0D-631C-13FC-AD8D6693BEC7}"/>
              </a:ext>
            </a:extLst>
          </p:cNvPr>
          <p:cNvSpPr/>
          <p:nvPr/>
        </p:nvSpPr>
        <p:spPr>
          <a:xfrm>
            <a:off x="4085952" y="1627746"/>
            <a:ext cx="4280282" cy="3869159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270F2C6-D5AB-8624-BD38-2114A05466F9}"/>
              </a:ext>
            </a:extLst>
          </p:cNvPr>
          <p:cNvCxnSpPr/>
          <p:nvPr/>
        </p:nvCxnSpPr>
        <p:spPr>
          <a:xfrm>
            <a:off x="6096001" y="1627746"/>
            <a:ext cx="0" cy="3869159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0672F90-B3C2-B1E1-0B08-BC37C5A16761}"/>
              </a:ext>
            </a:extLst>
          </p:cNvPr>
          <p:cNvSpPr txBox="1"/>
          <p:nvPr/>
        </p:nvSpPr>
        <p:spPr>
          <a:xfrm>
            <a:off x="3254736" y="5506495"/>
            <a:ext cx="1241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Proposed barrier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ED5B970-E654-FB2E-BCB4-0FF04D00EA26}"/>
              </a:ext>
            </a:extLst>
          </p:cNvPr>
          <p:cNvSpPr txBox="1"/>
          <p:nvPr/>
        </p:nvSpPr>
        <p:spPr>
          <a:xfrm>
            <a:off x="5530364" y="5518007"/>
            <a:ext cx="1103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Existing barrier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245965C-79DC-95D9-3FBF-95A1EA635748}"/>
              </a:ext>
            </a:extLst>
          </p:cNvPr>
          <p:cNvSpPr txBox="1"/>
          <p:nvPr/>
        </p:nvSpPr>
        <p:spPr>
          <a:xfrm>
            <a:off x="6226093" y="1263497"/>
            <a:ext cx="1966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Service provider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995100-011F-F174-FDAF-6CE332BD23F8}"/>
              </a:ext>
            </a:extLst>
          </p:cNvPr>
          <p:cNvCxnSpPr/>
          <p:nvPr/>
        </p:nvCxnSpPr>
        <p:spPr>
          <a:xfrm>
            <a:off x="6104240" y="1627746"/>
            <a:ext cx="0" cy="3869159"/>
          </a:xfrm>
          <a:prstGeom prst="line">
            <a:avLst/>
          </a:prstGeom>
          <a:ln w="3175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908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6 0.00325 L -0.24322 0.00325 " pathEditMode="relative" ptsTypes="AA">
                                      <p:cBhvr>
                                        <p:cTn id="6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  <p:bldP spid="44" grpId="0" animBg="1"/>
      <p:bldP spid="50" grpId="0"/>
      <p:bldP spid="52" grpId="0"/>
      <p:bldP spid="60" grpId="0" animBg="1"/>
      <p:bldP spid="72" grpId="0"/>
      <p:bldP spid="73" grpId="0"/>
      <p:bldP spid="7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36523f86c_0_0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Computation Model: Storage</a:t>
            </a:r>
            <a:endParaRPr dirty="0"/>
          </a:p>
        </p:txBody>
      </p:sp>
      <p:sp>
        <p:nvSpPr>
          <p:cNvPr id="66" name="Google Shape;66;g2036523f86c_0_0"/>
          <p:cNvSpPr txBox="1">
            <a:spLocks noGrp="1"/>
          </p:cNvSpPr>
          <p:nvPr>
            <p:ph type="body" idx="1"/>
          </p:nvPr>
        </p:nvSpPr>
        <p:spPr>
          <a:xfrm>
            <a:off x="493889" y="1810402"/>
            <a:ext cx="8142000" cy="47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C6F4FF-F22B-1FFD-8BDD-BDB4303344E1}"/>
              </a:ext>
            </a:extLst>
          </p:cNvPr>
          <p:cNvSpPr txBox="1"/>
          <p:nvPr/>
        </p:nvSpPr>
        <p:spPr>
          <a:xfrm>
            <a:off x="999241" y="-10369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7B5333-909A-BB1F-B507-995A076D9186}"/>
                  </a:ext>
                </a:extLst>
              </p:cNvPr>
              <p:cNvSpPr txBox="1"/>
              <p:nvPr/>
            </p:nvSpPr>
            <p:spPr>
              <a:xfrm>
                <a:off x="2552921" y="2927423"/>
                <a:ext cx="1787925" cy="468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≜</m:t>
                      </m:r>
                      <m:acc>
                        <m:accPr>
                          <m:chr m:val="̃"/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7B5333-909A-BB1F-B507-995A076D9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921" y="2927423"/>
                <a:ext cx="1787925" cy="468270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45;p1">
            <a:extLst>
              <a:ext uri="{FF2B5EF4-FFF2-40B4-BE49-F238E27FC236}">
                <a16:creationId xmlns:a16="http://schemas.microsoft.com/office/drawing/2014/main" id="{915D1A44-B342-47DC-D34E-6E396B7531E6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11B8C48B-8C57-1D1C-32D2-0AB166BEFCB2}"/>
                  </a:ext>
                </a:extLst>
              </p:cNvPr>
              <p:cNvSpPr/>
              <p:nvPr/>
            </p:nvSpPr>
            <p:spPr>
              <a:xfrm>
                <a:off x="338898" y="1770394"/>
                <a:ext cx="2280871" cy="3484870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𝑈𝑛𝑖𝑓</m:t>
                      </m:r>
                      <m:sSubSup>
                        <m:sSubSupPr>
                          <m:ctrlPr>
                            <a:rPr 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11B8C48B-8C57-1D1C-32D2-0AB166BEFC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98" y="1770394"/>
                <a:ext cx="2280871" cy="348487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7D4CFCBB-701C-4F27-F25B-9F51D3D08743}"/>
                  </a:ext>
                </a:extLst>
              </p:cNvPr>
              <p:cNvSpPr/>
              <p:nvPr/>
            </p:nvSpPr>
            <p:spPr>
              <a:xfrm>
                <a:off x="4263628" y="1770394"/>
                <a:ext cx="1856590" cy="3484870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̃"/>
                          <m:ctrlPr>
                            <a:rPr lang="en-US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7D4CFCBB-701C-4F27-F25B-9F51D3D087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628" y="1770394"/>
                <a:ext cx="1856590" cy="348487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n 12">
                <a:extLst>
                  <a:ext uri="{FF2B5EF4-FFF2-40B4-BE49-F238E27FC236}">
                    <a16:creationId xmlns:a16="http://schemas.microsoft.com/office/drawing/2014/main" id="{13379322-F7A7-8B85-2E41-5E3730EF1B13}"/>
                  </a:ext>
                </a:extLst>
              </p:cNvPr>
              <p:cNvSpPr/>
              <p:nvPr/>
            </p:nvSpPr>
            <p:spPr>
              <a:xfrm>
                <a:off x="7601344" y="1861108"/>
                <a:ext cx="1208689" cy="987973"/>
              </a:xfrm>
              <a:prstGeom prst="can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Worker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n 12">
                <a:extLst>
                  <a:ext uri="{FF2B5EF4-FFF2-40B4-BE49-F238E27FC236}">
                    <a16:creationId xmlns:a16="http://schemas.microsoft.com/office/drawing/2014/main" id="{13379322-F7A7-8B85-2E41-5E3730EF1B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344" y="1861108"/>
                <a:ext cx="1208689" cy="987973"/>
              </a:xfrm>
              <a:prstGeom prst="can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n 13">
                <a:extLst>
                  <a:ext uri="{FF2B5EF4-FFF2-40B4-BE49-F238E27FC236}">
                    <a16:creationId xmlns:a16="http://schemas.microsoft.com/office/drawing/2014/main" id="{49D9A4AA-FCDB-EC7F-D0AB-BEA1EC691532}"/>
                  </a:ext>
                </a:extLst>
              </p:cNvPr>
              <p:cNvSpPr/>
              <p:nvPr/>
            </p:nvSpPr>
            <p:spPr>
              <a:xfrm>
                <a:off x="7601343" y="3031737"/>
                <a:ext cx="1208689" cy="987973"/>
              </a:xfrm>
              <a:prstGeom prst="can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Worker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Can 13">
                <a:extLst>
                  <a:ext uri="{FF2B5EF4-FFF2-40B4-BE49-F238E27FC236}">
                    <a16:creationId xmlns:a16="http://schemas.microsoft.com/office/drawing/2014/main" id="{49D9A4AA-FCDB-EC7F-D0AB-BEA1EC691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343" y="3031737"/>
                <a:ext cx="1208689" cy="987973"/>
              </a:xfrm>
              <a:prstGeom prst="can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n 14">
                <a:extLst>
                  <a:ext uri="{FF2B5EF4-FFF2-40B4-BE49-F238E27FC236}">
                    <a16:creationId xmlns:a16="http://schemas.microsoft.com/office/drawing/2014/main" id="{259F4E86-ABF0-D9C1-2A1F-10D8985CD3AB}"/>
                  </a:ext>
                </a:extLst>
              </p:cNvPr>
              <p:cNvSpPr/>
              <p:nvPr/>
            </p:nvSpPr>
            <p:spPr>
              <a:xfrm>
                <a:off x="7601342" y="4224805"/>
                <a:ext cx="1208689" cy="987973"/>
              </a:xfrm>
              <a:prstGeom prst="can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Worker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an 14">
                <a:extLst>
                  <a:ext uri="{FF2B5EF4-FFF2-40B4-BE49-F238E27FC236}">
                    <a16:creationId xmlns:a16="http://schemas.microsoft.com/office/drawing/2014/main" id="{259F4E86-ABF0-D9C1-2A1F-10D8985CD3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342" y="4224805"/>
                <a:ext cx="1208689" cy="987973"/>
              </a:xfrm>
              <a:prstGeom prst="can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7BAE9F2-3584-0E88-02A9-962F3D9A6D6D}"/>
              </a:ext>
            </a:extLst>
          </p:cNvPr>
          <p:cNvCxnSpPr>
            <a:cxnSpLocks/>
          </p:cNvCxnSpPr>
          <p:nvPr/>
        </p:nvCxnSpPr>
        <p:spPr>
          <a:xfrm flipV="1">
            <a:off x="6163073" y="2355094"/>
            <a:ext cx="1409337" cy="716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AE792D0-56EC-7ABB-764F-FF5595072BEB}"/>
              </a:ext>
            </a:extLst>
          </p:cNvPr>
          <p:cNvCxnSpPr>
            <a:cxnSpLocks/>
          </p:cNvCxnSpPr>
          <p:nvPr/>
        </p:nvCxnSpPr>
        <p:spPr>
          <a:xfrm>
            <a:off x="6163073" y="3370992"/>
            <a:ext cx="13954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2A6994-ABF5-A370-624C-E042EA7519EC}"/>
              </a:ext>
            </a:extLst>
          </p:cNvPr>
          <p:cNvCxnSpPr>
            <a:cxnSpLocks/>
          </p:cNvCxnSpPr>
          <p:nvPr/>
        </p:nvCxnSpPr>
        <p:spPr>
          <a:xfrm>
            <a:off x="6163073" y="3639202"/>
            <a:ext cx="1361089" cy="971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8C27DBB-CDF7-4A03-19C8-CF10980F86D1}"/>
              </a:ext>
            </a:extLst>
          </p:cNvPr>
          <p:cNvCxnSpPr>
            <a:cxnSpLocks/>
          </p:cNvCxnSpPr>
          <p:nvPr/>
        </p:nvCxnSpPr>
        <p:spPr>
          <a:xfrm>
            <a:off x="2641197" y="3395693"/>
            <a:ext cx="156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ED5B970-E654-FB2E-BCB4-0FF04D00EA26}"/>
              </a:ext>
            </a:extLst>
          </p:cNvPr>
          <p:cNvSpPr txBox="1"/>
          <p:nvPr/>
        </p:nvSpPr>
        <p:spPr>
          <a:xfrm>
            <a:off x="4623553" y="5254308"/>
            <a:ext cx="1103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Admin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6850A-41E8-7F82-28CF-415E7DCE7036}"/>
              </a:ext>
            </a:extLst>
          </p:cNvPr>
          <p:cNvSpPr txBox="1"/>
          <p:nvPr/>
        </p:nvSpPr>
        <p:spPr>
          <a:xfrm>
            <a:off x="1075614" y="5275662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User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D86BE0-EA20-ED86-BF56-642B0D590134}"/>
                  </a:ext>
                </a:extLst>
              </p:cNvPr>
              <p:cNvSpPr txBox="1"/>
              <p:nvPr/>
            </p:nvSpPr>
            <p:spPr>
              <a:xfrm>
                <a:off x="6569476" y="2267006"/>
                <a:ext cx="407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D86BE0-EA20-ED86-BF56-642B0D590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476" y="2267006"/>
                <a:ext cx="407419" cy="461665"/>
              </a:xfrm>
              <a:prstGeom prst="rect">
                <a:avLst/>
              </a:prstGeom>
              <a:blipFill>
                <a:blip r:embed="rId9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071663-9383-4435-CCD0-C9DA8C04EF2F}"/>
                  </a:ext>
                </a:extLst>
              </p:cNvPr>
              <p:cNvSpPr txBox="1"/>
              <p:nvPr/>
            </p:nvSpPr>
            <p:spPr>
              <a:xfrm>
                <a:off x="6569476" y="2925100"/>
                <a:ext cx="407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071663-9383-4435-CCD0-C9DA8C04E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476" y="2925100"/>
                <a:ext cx="407419" cy="461665"/>
              </a:xfrm>
              <a:prstGeom prst="rect">
                <a:avLst/>
              </a:prstGeom>
              <a:blipFill>
                <a:blip r:embed="rId10"/>
                <a:stretch>
                  <a:fillRect t="-2703" r="-9091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05A258-7C06-7C4A-A7AC-2178D99B6230}"/>
                  </a:ext>
                </a:extLst>
              </p:cNvPr>
              <p:cNvSpPr txBox="1"/>
              <p:nvPr/>
            </p:nvSpPr>
            <p:spPr>
              <a:xfrm>
                <a:off x="6569476" y="3616499"/>
                <a:ext cx="407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05A258-7C06-7C4A-A7AC-2178D99B6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476" y="3616499"/>
                <a:ext cx="407419" cy="461665"/>
              </a:xfrm>
              <a:prstGeom prst="rect">
                <a:avLst/>
              </a:prstGeom>
              <a:blipFill>
                <a:blip r:embed="rId11"/>
                <a:stretch>
                  <a:fillRect r="-9091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D4E800-183B-EB03-E37B-2BF1C14AA445}"/>
                  </a:ext>
                </a:extLst>
              </p:cNvPr>
              <p:cNvSpPr txBox="1"/>
              <p:nvPr/>
            </p:nvSpPr>
            <p:spPr>
              <a:xfrm>
                <a:off x="319745" y="6085930"/>
                <a:ext cx="3996030" cy="490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𝑈𝑛𝑖𝑓</m:t>
                    </m:r>
                    <m:sSubSup>
                      <m:sSubSup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&lt;&lt;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D4E800-183B-EB03-E37B-2BF1C14AA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45" y="6085930"/>
                <a:ext cx="3996030" cy="490199"/>
              </a:xfrm>
              <a:prstGeom prst="rect">
                <a:avLst/>
              </a:prstGeom>
              <a:blipFill>
                <a:blip r:embed="rId12"/>
                <a:stretch>
                  <a:fillRect l="-316" t="-10256" r="-1582" b="-20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53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 animBg="1"/>
      <p:bldP spid="12" grpId="0" animBg="1"/>
      <p:bldP spid="13" grpId="0" animBg="1"/>
      <p:bldP spid="14" grpId="0" animBg="1"/>
      <p:bldP spid="15" grpId="0" animBg="1"/>
      <p:bldP spid="73" grpId="0"/>
      <p:bldP spid="4" grpId="0"/>
      <p:bldP spid="6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36523f86c_0_0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Computation Model: Computation</a:t>
            </a:r>
            <a:endParaRPr dirty="0"/>
          </a:p>
        </p:txBody>
      </p:sp>
      <p:sp>
        <p:nvSpPr>
          <p:cNvPr id="66" name="Google Shape;66;g2036523f86c_0_0"/>
          <p:cNvSpPr txBox="1">
            <a:spLocks noGrp="1"/>
          </p:cNvSpPr>
          <p:nvPr>
            <p:ph type="body" idx="1"/>
          </p:nvPr>
        </p:nvSpPr>
        <p:spPr>
          <a:xfrm>
            <a:off x="493889" y="1810402"/>
            <a:ext cx="8142000" cy="47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C6F4FF-F22B-1FFD-8BDD-BDB4303344E1}"/>
              </a:ext>
            </a:extLst>
          </p:cNvPr>
          <p:cNvSpPr txBox="1"/>
          <p:nvPr/>
        </p:nvSpPr>
        <p:spPr>
          <a:xfrm>
            <a:off x="999241" y="-10369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7B5333-909A-BB1F-B507-995A076D9186}"/>
                  </a:ext>
                </a:extLst>
              </p:cNvPr>
              <p:cNvSpPr txBox="1"/>
              <p:nvPr/>
            </p:nvSpPr>
            <p:spPr>
              <a:xfrm>
                <a:off x="2547983" y="2431450"/>
                <a:ext cx="1767792" cy="490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7B5333-909A-BB1F-B507-995A076D9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83" y="2431450"/>
                <a:ext cx="1767792" cy="490199"/>
              </a:xfrm>
              <a:prstGeom prst="rect">
                <a:avLst/>
              </a:prstGeom>
              <a:blipFill>
                <a:blip r:embed="rId3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45;p1">
            <a:extLst>
              <a:ext uri="{FF2B5EF4-FFF2-40B4-BE49-F238E27FC236}">
                <a16:creationId xmlns:a16="http://schemas.microsoft.com/office/drawing/2014/main" id="{915D1A44-B342-47DC-D34E-6E396B7531E6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7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1B8C48B-8C57-1D1C-32D2-0AB166BEFCB2}"/>
              </a:ext>
            </a:extLst>
          </p:cNvPr>
          <p:cNvSpPr/>
          <p:nvPr/>
        </p:nvSpPr>
        <p:spPr>
          <a:xfrm>
            <a:off x="338898" y="1770394"/>
            <a:ext cx="2280871" cy="348487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i="0" dirty="0">
                <a:solidFill>
                  <a:schemeClr val="bg1"/>
                </a:solidFill>
                <a:latin typeface="+mj-lt"/>
              </a:rPr>
              <a:t>User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4CFCBB-701C-4F27-F25B-9F51D3D08743}"/>
              </a:ext>
            </a:extLst>
          </p:cNvPr>
          <p:cNvSpPr/>
          <p:nvPr/>
        </p:nvSpPr>
        <p:spPr>
          <a:xfrm>
            <a:off x="4263628" y="1770394"/>
            <a:ext cx="1856590" cy="348487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i="0" dirty="0">
                <a:solidFill>
                  <a:schemeClr val="bg1"/>
                </a:solidFill>
                <a:latin typeface="+mj-lt"/>
              </a:rPr>
              <a:t>A</a:t>
            </a:r>
            <a:r>
              <a:rPr lang="en-US" sz="2800" b="0" i="0" dirty="0">
                <a:solidFill>
                  <a:schemeClr val="bg1"/>
                </a:solidFill>
                <a:latin typeface="+mj-lt"/>
              </a:rPr>
              <a:t>dmin</a:t>
            </a:r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n 12">
                <a:extLst>
                  <a:ext uri="{FF2B5EF4-FFF2-40B4-BE49-F238E27FC236}">
                    <a16:creationId xmlns:a16="http://schemas.microsoft.com/office/drawing/2014/main" id="{13379322-F7A7-8B85-2E41-5E3730EF1B13}"/>
                  </a:ext>
                </a:extLst>
              </p:cNvPr>
              <p:cNvSpPr/>
              <p:nvPr/>
            </p:nvSpPr>
            <p:spPr>
              <a:xfrm>
                <a:off x="7601344" y="1861108"/>
                <a:ext cx="1208689" cy="987973"/>
              </a:xfrm>
              <a:prstGeom prst="can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Worker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n 12">
                <a:extLst>
                  <a:ext uri="{FF2B5EF4-FFF2-40B4-BE49-F238E27FC236}">
                    <a16:creationId xmlns:a16="http://schemas.microsoft.com/office/drawing/2014/main" id="{13379322-F7A7-8B85-2E41-5E3730EF1B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344" y="1861108"/>
                <a:ext cx="1208689" cy="987973"/>
              </a:xfrm>
              <a:prstGeom prst="can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n 13">
                <a:extLst>
                  <a:ext uri="{FF2B5EF4-FFF2-40B4-BE49-F238E27FC236}">
                    <a16:creationId xmlns:a16="http://schemas.microsoft.com/office/drawing/2014/main" id="{49D9A4AA-FCDB-EC7F-D0AB-BEA1EC691532}"/>
                  </a:ext>
                </a:extLst>
              </p:cNvPr>
              <p:cNvSpPr/>
              <p:nvPr/>
            </p:nvSpPr>
            <p:spPr>
              <a:xfrm>
                <a:off x="7601343" y="3031737"/>
                <a:ext cx="1208689" cy="987973"/>
              </a:xfrm>
              <a:prstGeom prst="can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Worker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Can 13">
                <a:extLst>
                  <a:ext uri="{FF2B5EF4-FFF2-40B4-BE49-F238E27FC236}">
                    <a16:creationId xmlns:a16="http://schemas.microsoft.com/office/drawing/2014/main" id="{49D9A4AA-FCDB-EC7F-D0AB-BEA1EC691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343" y="3031737"/>
                <a:ext cx="1208689" cy="987973"/>
              </a:xfrm>
              <a:prstGeom prst="can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n 14">
                <a:extLst>
                  <a:ext uri="{FF2B5EF4-FFF2-40B4-BE49-F238E27FC236}">
                    <a16:creationId xmlns:a16="http://schemas.microsoft.com/office/drawing/2014/main" id="{259F4E86-ABF0-D9C1-2A1F-10D8985CD3AB}"/>
                  </a:ext>
                </a:extLst>
              </p:cNvPr>
              <p:cNvSpPr/>
              <p:nvPr/>
            </p:nvSpPr>
            <p:spPr>
              <a:xfrm>
                <a:off x="7601342" y="4224805"/>
                <a:ext cx="1208689" cy="987973"/>
              </a:xfrm>
              <a:prstGeom prst="can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Worker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an 14">
                <a:extLst>
                  <a:ext uri="{FF2B5EF4-FFF2-40B4-BE49-F238E27FC236}">
                    <a16:creationId xmlns:a16="http://schemas.microsoft.com/office/drawing/2014/main" id="{259F4E86-ABF0-D9C1-2A1F-10D8985CD3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342" y="4224805"/>
                <a:ext cx="1208689" cy="987973"/>
              </a:xfrm>
              <a:prstGeom prst="can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7BAE9F2-3584-0E88-02A9-962F3D9A6D6D}"/>
              </a:ext>
            </a:extLst>
          </p:cNvPr>
          <p:cNvCxnSpPr>
            <a:cxnSpLocks/>
          </p:cNvCxnSpPr>
          <p:nvPr/>
        </p:nvCxnSpPr>
        <p:spPr>
          <a:xfrm>
            <a:off x="6147712" y="2194456"/>
            <a:ext cx="1452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8C27DBB-CDF7-4A03-19C8-CF10980F86D1}"/>
              </a:ext>
            </a:extLst>
          </p:cNvPr>
          <p:cNvCxnSpPr>
            <a:cxnSpLocks/>
          </p:cNvCxnSpPr>
          <p:nvPr/>
        </p:nvCxnSpPr>
        <p:spPr>
          <a:xfrm>
            <a:off x="2647559" y="2921649"/>
            <a:ext cx="156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D86BE0-EA20-ED86-BF56-642B0D590134}"/>
                  </a:ext>
                </a:extLst>
              </p:cNvPr>
              <p:cNvSpPr txBox="1"/>
              <p:nvPr/>
            </p:nvSpPr>
            <p:spPr>
              <a:xfrm>
                <a:off x="6657070" y="1786929"/>
                <a:ext cx="4074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D86BE0-EA20-ED86-BF56-642B0D590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070" y="1786929"/>
                <a:ext cx="407419" cy="400110"/>
              </a:xfrm>
              <a:prstGeom prst="rect">
                <a:avLst/>
              </a:prstGeom>
              <a:blipFill>
                <a:blip r:embed="rId6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D4E800-183B-EB03-E37B-2BF1C14AA445}"/>
                  </a:ext>
                </a:extLst>
              </p:cNvPr>
              <p:cNvSpPr txBox="1"/>
              <p:nvPr/>
            </p:nvSpPr>
            <p:spPr>
              <a:xfrm>
                <a:off x="3124945" y="5426117"/>
                <a:ext cx="541116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b="0" i="0" dirty="0">
                    <a:solidFill>
                      <a:schemeClr val="tx1"/>
                    </a:solidFill>
                    <a:latin typeface="+mj-lt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0" i="0" dirty="0">
                    <a:solidFill>
                      <a:schemeClr val="tx1"/>
                    </a:solidFill>
                    <a:latin typeface="+mj-lt"/>
                  </a:rPr>
                  <a:t>-variate polynomial of degree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b="0" i="0" dirty="0">
                    <a:solidFill>
                      <a:schemeClr val="tx1"/>
                    </a:solidFill>
                    <a:latin typeface="+mj-lt"/>
                  </a:rPr>
                  <a:t>.</a:t>
                </a:r>
              </a:p>
              <a:p>
                <a:endParaRPr lang="en-US" sz="2400" b="0" i="0" dirty="0">
                  <a:solidFill>
                    <a:schemeClr val="tx1"/>
                  </a:solidFill>
                  <a:latin typeface="+mj-lt"/>
                </a:endParaRPr>
              </a:p>
              <a:p>
                <a:r>
                  <a:rPr lang="en-US" sz="2400" b="0" i="0" dirty="0">
                    <a:solidFill>
                      <a:schemeClr val="tx1"/>
                    </a:solidFill>
                    <a:latin typeface="+mj-lt"/>
                  </a:rPr>
                  <a:t>Tolerate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stragglers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workers.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D4E800-183B-EB03-E37B-2BF1C14AA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945" y="5426117"/>
                <a:ext cx="5411161" cy="1200329"/>
              </a:xfrm>
              <a:prstGeom prst="rect">
                <a:avLst/>
              </a:prstGeom>
              <a:blipFill>
                <a:blip r:embed="rId7"/>
                <a:stretch>
                  <a:fillRect l="-1878" t="-4211" r="-939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010AF5-5895-84D8-D197-DF372DB90296}"/>
              </a:ext>
            </a:extLst>
          </p:cNvPr>
          <p:cNvCxnSpPr>
            <a:cxnSpLocks/>
          </p:cNvCxnSpPr>
          <p:nvPr/>
        </p:nvCxnSpPr>
        <p:spPr>
          <a:xfrm flipH="1">
            <a:off x="2619769" y="3686364"/>
            <a:ext cx="15964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91FD32B-CA51-1374-DE59-F21149162F68}"/>
                  </a:ext>
                </a:extLst>
              </p:cNvPr>
              <p:cNvSpPr txBox="1"/>
              <p:nvPr/>
            </p:nvSpPr>
            <p:spPr>
              <a:xfrm>
                <a:off x="3140087" y="3252309"/>
                <a:ext cx="5557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91FD32B-CA51-1374-DE59-F21149162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087" y="3252309"/>
                <a:ext cx="55579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465810F-E308-D7E5-BFBD-4D9CDF57056A}"/>
              </a:ext>
            </a:extLst>
          </p:cNvPr>
          <p:cNvCxnSpPr>
            <a:cxnSpLocks/>
          </p:cNvCxnSpPr>
          <p:nvPr/>
        </p:nvCxnSpPr>
        <p:spPr>
          <a:xfrm flipH="1">
            <a:off x="6120218" y="2400646"/>
            <a:ext cx="14382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A55AA92-AC7B-E6E6-17CB-818654CEA0DF}"/>
                  </a:ext>
                </a:extLst>
              </p:cNvPr>
              <p:cNvSpPr txBox="1"/>
              <p:nvPr/>
            </p:nvSpPr>
            <p:spPr>
              <a:xfrm>
                <a:off x="6446776" y="2330951"/>
                <a:ext cx="854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A55AA92-AC7B-E6E6-17CB-818654CEA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76" y="2330951"/>
                <a:ext cx="854064" cy="400110"/>
              </a:xfrm>
              <a:prstGeom prst="rect">
                <a:avLst/>
              </a:prstGeom>
              <a:blipFill>
                <a:blip r:embed="rId9"/>
                <a:stretch>
                  <a:fillRect t="-6061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AAB467-A229-F7C5-5737-1850D0E4E133}"/>
              </a:ext>
            </a:extLst>
          </p:cNvPr>
          <p:cNvCxnSpPr>
            <a:cxnSpLocks/>
          </p:cNvCxnSpPr>
          <p:nvPr/>
        </p:nvCxnSpPr>
        <p:spPr>
          <a:xfrm>
            <a:off x="6135812" y="3362885"/>
            <a:ext cx="1452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A18B951-9406-ADF1-843C-DE6B51119399}"/>
                  </a:ext>
                </a:extLst>
              </p:cNvPr>
              <p:cNvSpPr txBox="1"/>
              <p:nvPr/>
            </p:nvSpPr>
            <p:spPr>
              <a:xfrm>
                <a:off x="6636263" y="2975362"/>
                <a:ext cx="4074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A18B951-9406-ADF1-843C-DE6B51119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263" y="2975362"/>
                <a:ext cx="407419" cy="400110"/>
              </a:xfrm>
              <a:prstGeom prst="rect">
                <a:avLst/>
              </a:prstGeom>
              <a:blipFill>
                <a:blip r:embed="rId10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79BCC6-647D-23CD-3865-11256F3416B7}"/>
              </a:ext>
            </a:extLst>
          </p:cNvPr>
          <p:cNvCxnSpPr>
            <a:cxnSpLocks/>
          </p:cNvCxnSpPr>
          <p:nvPr/>
        </p:nvCxnSpPr>
        <p:spPr>
          <a:xfrm flipH="1">
            <a:off x="6135812" y="3581504"/>
            <a:ext cx="14382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FCE904A-3713-0FA3-D18B-F2FE5B45D0FB}"/>
                  </a:ext>
                </a:extLst>
              </p:cNvPr>
              <p:cNvSpPr txBox="1"/>
              <p:nvPr/>
            </p:nvSpPr>
            <p:spPr>
              <a:xfrm>
                <a:off x="6437208" y="3543397"/>
                <a:ext cx="854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FCE904A-3713-0FA3-D18B-F2FE5B45D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208" y="3543397"/>
                <a:ext cx="854064" cy="400110"/>
              </a:xfrm>
              <a:prstGeom prst="rect">
                <a:avLst/>
              </a:prstGeom>
              <a:blipFill>
                <a:blip r:embed="rId11"/>
                <a:stretch>
                  <a:fillRect t="-3030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A7B10EE-F400-92F4-A0D1-EB97A9217E49}"/>
              </a:ext>
            </a:extLst>
          </p:cNvPr>
          <p:cNvCxnSpPr>
            <a:cxnSpLocks/>
          </p:cNvCxnSpPr>
          <p:nvPr/>
        </p:nvCxnSpPr>
        <p:spPr>
          <a:xfrm>
            <a:off x="6132352" y="4639103"/>
            <a:ext cx="1452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3C9323E-A23F-8E9D-5867-B5DF7FA42E52}"/>
                  </a:ext>
                </a:extLst>
              </p:cNvPr>
              <p:cNvSpPr txBox="1"/>
              <p:nvPr/>
            </p:nvSpPr>
            <p:spPr>
              <a:xfrm>
                <a:off x="6632803" y="4251580"/>
                <a:ext cx="4074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3C9323E-A23F-8E9D-5867-B5DF7FA42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803" y="4251580"/>
                <a:ext cx="407419" cy="400110"/>
              </a:xfrm>
              <a:prstGeom prst="rect">
                <a:avLst/>
              </a:prstGeom>
              <a:blipFill>
                <a:blip r:embed="rId6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F18A261-B445-7853-5DC4-4E916ACF101E}"/>
              </a:ext>
            </a:extLst>
          </p:cNvPr>
          <p:cNvCxnSpPr>
            <a:cxnSpLocks/>
          </p:cNvCxnSpPr>
          <p:nvPr/>
        </p:nvCxnSpPr>
        <p:spPr>
          <a:xfrm flipH="1">
            <a:off x="6132352" y="4857722"/>
            <a:ext cx="14382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1BD6033-3403-D4AC-6407-4E6EE2383F4A}"/>
                  </a:ext>
                </a:extLst>
              </p:cNvPr>
              <p:cNvSpPr txBox="1"/>
              <p:nvPr/>
            </p:nvSpPr>
            <p:spPr>
              <a:xfrm>
                <a:off x="6433748" y="4819615"/>
                <a:ext cx="854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1BD6033-3403-D4AC-6407-4E6EE2383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748" y="4819615"/>
                <a:ext cx="854064" cy="400110"/>
              </a:xfrm>
              <a:prstGeom prst="rect">
                <a:avLst/>
              </a:prstGeom>
              <a:blipFill>
                <a:blip r:embed="rId12"/>
                <a:stretch>
                  <a:fillRect t="-6250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C479888-7E9A-504E-47C6-1275383576B3}"/>
                  </a:ext>
                </a:extLst>
              </p:cNvPr>
              <p:cNvSpPr/>
              <p:nvPr/>
            </p:nvSpPr>
            <p:spPr>
              <a:xfrm>
                <a:off x="692853" y="5843427"/>
                <a:ext cx="1519622" cy="768548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C479888-7E9A-504E-47C6-127538357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53" y="5843427"/>
                <a:ext cx="1519622" cy="76854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26BD286-89C5-D9FE-35D1-45F657558E03}"/>
              </a:ext>
            </a:extLst>
          </p:cNvPr>
          <p:cNvCxnSpPr>
            <a:cxnSpLocks/>
          </p:cNvCxnSpPr>
          <p:nvPr/>
        </p:nvCxnSpPr>
        <p:spPr>
          <a:xfrm>
            <a:off x="1381679" y="5266116"/>
            <a:ext cx="0" cy="577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C372E7D-27FB-599C-BC9F-A6088140ED61}"/>
                  </a:ext>
                </a:extLst>
              </p:cNvPr>
              <p:cNvSpPr txBox="1"/>
              <p:nvPr/>
            </p:nvSpPr>
            <p:spPr>
              <a:xfrm>
                <a:off x="1381679" y="5320025"/>
                <a:ext cx="562333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C372E7D-27FB-599C-BC9F-A6088140E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679" y="5320025"/>
                <a:ext cx="562333" cy="615553"/>
              </a:xfrm>
              <a:prstGeom prst="rect">
                <a:avLst/>
              </a:prstGeom>
              <a:blipFill>
                <a:blip r:embed="rId14"/>
                <a:stretch>
                  <a:fillRect r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59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 animBg="1"/>
      <p:bldP spid="12" grpId="0" animBg="1"/>
      <p:bldP spid="13" grpId="0" animBg="1"/>
      <p:bldP spid="14" grpId="0" animBg="1"/>
      <p:bldP spid="15" grpId="0" animBg="1"/>
      <p:bldP spid="6" grpId="0"/>
      <p:bldP spid="26" grpId="0"/>
      <p:bldP spid="35" grpId="0"/>
      <p:bldP spid="37" grpId="0"/>
      <p:bldP spid="39" grpId="0"/>
      <p:bldP spid="42" grpId="0"/>
      <p:bldP spid="44" grpId="0"/>
      <p:bldP spid="47" grpId="0" animBg="1"/>
      <p:bldP spid="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36523f86c_0_5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Perfect Subset Privacy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≜</m:t>
                    </m:r>
                    <m:acc>
                      <m:accPr>
                        <m:chr m:val="̃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b="0" dirty="0"/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An encoding scheme is </a:t>
                </a:r>
                <a:r>
                  <a:rPr lang="en-US" sz="2400" i="1" dirty="0"/>
                  <a:t>perfectly private 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Perfect privacy is a very strong notion.</a:t>
                </a:r>
              </a:p>
              <a:p>
                <a:pPr lvl="1" indent="-346710" algn="just">
                  <a:lnSpc>
                    <a:spcPct val="14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dirty="0"/>
                  <a:t>No storage saving would be possible.</a:t>
                </a:r>
              </a:p>
              <a:p>
                <a:pPr indent="-366395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●"/>
                </a:pPr>
                <a:r>
                  <a:rPr lang="en-US" sz="2400" dirty="0"/>
                  <a:t>Privacy guarantees of the form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;</m:t>
                        </m:r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provide no insight about which parts of the data are revealed.</a:t>
                </a:r>
              </a:p>
              <a:p>
                <a:pPr indent="-366395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●"/>
                </a:pPr>
                <a:r>
                  <a:rPr lang="en-US" sz="2400" dirty="0"/>
                  <a:t>We leverage the notion of </a:t>
                </a:r>
                <a:r>
                  <a:rPr lang="en-US" sz="2400" u="sng" dirty="0"/>
                  <a:t>perfect subset privacy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36523f86c_0_5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Perfect Subset Privacy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200" u="sng" dirty="0"/>
                  <a:t>Definition</a:t>
                </a:r>
                <a:r>
                  <a:rPr lang="en-US" sz="2200" u="sng" baseline="30000" dirty="0"/>
                  <a:t>1</a:t>
                </a:r>
                <a:r>
                  <a:rPr lang="en-US" sz="2200" dirty="0"/>
                  <a:t>: For a privacy parameter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dirty="0"/>
                  <a:t> an encoding procedure satisfies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00" i="1" dirty="0"/>
                  <a:t>-subset privacy </a:t>
                </a:r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20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;</m:t>
                        </m:r>
                        <m:acc>
                          <m:accPr>
                            <m:chr m:val="̃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200" dirty="0"/>
                  <a:t> for all subsets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b="0" i="0" dirty="0">
                    <a:latin typeface="+mj-lt"/>
                  </a:rPr>
                  <a:t> where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00" baseline="-25000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≜</m:t>
                    </m:r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0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ℛ</m:t>
                        </m:r>
                      </m:sub>
                    </m:sSub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/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200" dirty="0"/>
                  <a:t>This notion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00" dirty="0"/>
                  <a:t>-subset privacy provides uniform protection for all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00" dirty="0"/>
                  <a:t>-subsets of the data.</a:t>
                </a:r>
              </a:p>
              <a:p>
                <a:pPr lvl="1" indent="-346710" algn="just">
                  <a:lnSpc>
                    <a:spcPct val="14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00" dirty="0"/>
                  <a:t> serves as a tunable privacy parameter.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200" u="sng" dirty="0"/>
                  <a:t>Our goal</a:t>
                </a:r>
                <a:r>
                  <a:rPr lang="en-US" sz="2200" dirty="0"/>
                  <a:t>: devise an encoding method that achieves perfect subset privacy.</a:t>
                </a:r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960D649-6338-70EA-55BD-0959170F403F}"/>
              </a:ext>
            </a:extLst>
          </p:cNvPr>
          <p:cNvSpPr txBox="1"/>
          <p:nvPr/>
        </p:nvSpPr>
        <p:spPr>
          <a:xfrm>
            <a:off x="195549" y="6150478"/>
            <a:ext cx="8752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</a:t>
            </a:r>
            <a:r>
              <a:rPr lang="en-US" dirty="0"/>
              <a:t>N. </a:t>
            </a:r>
            <a:r>
              <a:rPr lang="en-US" dirty="0" err="1"/>
              <a:t>Raviv</a:t>
            </a:r>
            <a:r>
              <a:rPr lang="en-US" dirty="0"/>
              <a:t> and Z. </a:t>
            </a:r>
            <a:r>
              <a:rPr lang="en-US" dirty="0" err="1"/>
              <a:t>Goldfeld</a:t>
            </a:r>
            <a:r>
              <a:rPr lang="en-US" dirty="0"/>
              <a:t>, “Perfect subset privacy for data sharing and learning,” in 2022 IEEE International Symposium on Information Theory (ISIT), IEEE, 2022, pp. 1850–1855.</a:t>
            </a:r>
          </a:p>
        </p:txBody>
      </p:sp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0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36523f86c_0_5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Performance Metrics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We judge the merit of schemes by:</a:t>
                </a:r>
              </a:p>
              <a:p>
                <a:pPr lvl="1" indent="-34671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/>
                  <a:t>Number of workers needed, measured by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dirty="0"/>
                  <a:t>;</a:t>
                </a:r>
              </a:p>
              <a:p>
                <a:pPr lvl="1" indent="-34671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/>
                  <a:t>Download cost, measured by the number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20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200" dirty="0"/>
                  <a:t> symbols downloaded by the user;</a:t>
                </a:r>
              </a:p>
              <a:p>
                <a:pPr lvl="1" indent="-34671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/>
                  <a:t>Side information, measured by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, the size of random key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Ideally, we would like to minimize all three quantities.</a:t>
                </a:r>
              </a:p>
              <a:p>
                <a:pPr marL="567690" lvl="1" indent="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 r="-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69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36523f86c_0_5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Performance Metrics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We judge the merit of schemes by:</a:t>
                </a:r>
              </a:p>
              <a:p>
                <a:pPr lvl="1" indent="-34671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>
                    <a:solidFill>
                      <a:schemeClr val="bg1">
                        <a:lumMod val="50000"/>
                      </a:schemeClr>
                    </a:solidFill>
                  </a:rPr>
                  <a:t>Number of workers needed</a:t>
                </a:r>
                <a:r>
                  <a:rPr lang="en-US" sz="2200" dirty="0"/>
                  <a:t>, measured by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dirty="0"/>
                  <a:t>;</a:t>
                </a:r>
              </a:p>
              <a:p>
                <a:pPr lvl="1" indent="-34671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/>
                  <a:t>Download cost, measured by the number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20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200" dirty="0"/>
                  <a:t> symbols downloaded by the user;</a:t>
                </a:r>
              </a:p>
              <a:p>
                <a:pPr lvl="1" indent="-34671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b="1" dirty="0">
                    <a:solidFill>
                      <a:schemeClr val="tx1"/>
                    </a:solidFill>
                  </a:rPr>
                  <a:t>Side information</a:t>
                </a:r>
                <a:r>
                  <a:rPr lang="en-US" sz="2200" dirty="0"/>
                  <a:t>, measured by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, the size of random key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Ideally, we would like to minimize all three quantities.</a:t>
                </a:r>
              </a:p>
              <a:p>
                <a:pPr marL="567690" lvl="1" indent="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 r="-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14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1" name="Google Shape;71;g2036523f86c_0_5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467202" y="437444"/>
                <a:ext cx="72375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6C7373"/>
                  </a:buClr>
                  <a:buSzPts val="3600"/>
                  <a:buFont typeface="Times New Roman"/>
                  <a:buNone/>
                </a:pPr>
                <a:r>
                  <a:rPr lang="en-US" dirty="0"/>
                  <a:t>Achieving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-subset Privacy</a:t>
                </a:r>
                <a:endParaRPr dirty="0"/>
              </a:p>
            </p:txBody>
          </p:sp>
        </mc:Choice>
        <mc:Fallback xmlns="">
          <p:sp>
            <p:nvSpPr>
              <p:cNvPr id="71" name="Google Shape;71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67202" y="437444"/>
                <a:ext cx="7237500" cy="980100"/>
              </a:xfrm>
              <a:prstGeom prst="rect">
                <a:avLst/>
              </a:prstGeom>
              <a:blipFill>
                <a:blip r:embed="rId3"/>
                <a:stretch>
                  <a:fillRect l="-2452" b="-64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200" baseline="30000" dirty="0"/>
                  <a:t>1</a:t>
                </a:r>
                <a:r>
                  <a:rPr lang="en-US" sz="2200" dirty="0"/>
                  <a:t>Raviv et al. presented a method achieving perfect subset privacy when the field size is at least the length of data.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200" u="sng" dirty="0"/>
                  <a:t>Our approach</a:t>
                </a:r>
                <a:r>
                  <a:rPr lang="en-US" sz="2200" dirty="0"/>
                  <a:t> (a generalization):</a:t>
                </a: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>
                    <a:latin typeface="+mn-lt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200">
                        <a:latin typeface="Cambria Math" panose="02040503050406030204" pitchFamily="18" charset="0"/>
                      </a:rPr>
                      <m:t>≜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200" dirty="0">
                    <a:latin typeface="+mn-lt"/>
                  </a:rPr>
                  <a:t>where:</a:t>
                </a: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𝔽</m:t>
                            </m:r>
                          </m:e>
                          <m:sub>
                            <m:r>
                              <a:rPr lang="en-US" sz="220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</m:e>
                    </m:d>
                    <m:r>
                      <a:rPr lang="en-US" sz="22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dirty="0"/>
                  <a:t> and</a:t>
                </a: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20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200" dirty="0"/>
                  <a:t> is a generator matrix for any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200" i="1" baseline="-2500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/>
                  <a:t> linear code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sz="2200" dirty="0"/>
                  <a:t> that satisfies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𝒞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/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200" b="0" dirty="0"/>
                  <a:t>Notice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00" dirty="0"/>
                  <a:t> by the Singleton bound, with equality achieved with MDS codes. </a:t>
                </a:r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4"/>
                <a:stretch>
                  <a:fillRect r="-10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1930E6-52AC-C056-BD30-4D94AC9EE9ED}"/>
              </a:ext>
            </a:extLst>
          </p:cNvPr>
          <p:cNvSpPr txBox="1"/>
          <p:nvPr/>
        </p:nvSpPr>
        <p:spPr>
          <a:xfrm>
            <a:off x="195549" y="6150478"/>
            <a:ext cx="8752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</a:t>
            </a:r>
            <a:r>
              <a:rPr lang="en-US" dirty="0"/>
              <a:t>N. </a:t>
            </a:r>
            <a:r>
              <a:rPr lang="en-US" dirty="0" err="1"/>
              <a:t>Raviv</a:t>
            </a:r>
            <a:r>
              <a:rPr lang="en-US" dirty="0"/>
              <a:t> and Z. </a:t>
            </a:r>
            <a:r>
              <a:rPr lang="en-US" dirty="0" err="1"/>
              <a:t>Goldfeld</a:t>
            </a:r>
            <a:r>
              <a:rPr lang="en-US" dirty="0"/>
              <a:t>, “Perfect subset privacy for data sharing and learning,” in 2022 IEEE International Symposium on Information Theory (ISIT), IEEE, 2022, pp. 1850–1855.</a:t>
            </a:r>
          </a:p>
        </p:txBody>
      </p:sp>
    </p:spTree>
    <p:extLst>
      <p:ext uri="{BB962C8B-B14F-4D97-AF65-F5344CB8AC3E}">
        <p14:creationId xmlns:p14="http://schemas.microsoft.com/office/powerpoint/2010/main" val="58418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36523f86c_0_5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Performance Metrics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We judge the merit of schemes by:</a:t>
                </a:r>
              </a:p>
              <a:p>
                <a:pPr lvl="1" indent="-34671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/>
                  <a:t>Number of workers needed, measured by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dirty="0"/>
                  <a:t>;</a:t>
                </a:r>
              </a:p>
              <a:p>
                <a:pPr lvl="1" indent="-34671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b="1" dirty="0">
                    <a:solidFill>
                      <a:schemeClr val="tx1"/>
                    </a:solidFill>
                  </a:rPr>
                  <a:t>Download cost</a:t>
                </a:r>
                <a:r>
                  <a:rPr lang="en-US" sz="2200" dirty="0"/>
                  <a:t>, measured by the number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20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200" dirty="0"/>
                  <a:t> symbols downloaded by the user;</a:t>
                </a:r>
              </a:p>
              <a:p>
                <a:pPr lvl="1" indent="-34671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/>
                  <a:t>Side information, measured by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, the size of random key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Ideally, we would like to minimize all three quantities.</a:t>
                </a:r>
              </a:p>
              <a:p>
                <a:pPr marL="567690" lvl="1" indent="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 r="-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3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36523f86c_0_5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sz="3200"/>
              <a:t>Trivial Scheme</a:t>
            </a:r>
            <a:endParaRPr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200" dirty="0"/>
                  <a:t>A trivial computation scheme has download cost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200" dirty="0"/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endParaRPr lang="en-US" sz="2200" dirty="0"/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>
                    <a:latin typeface="+mn-lt"/>
                  </a:rPr>
                  <a:t>The user sends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200" b="1" i="1">
                        <a:latin typeface="Cambria Math" panose="02040503050406030204" pitchFamily="18" charset="0"/>
                      </a:rPr>
                      <m:t>≜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+mn-lt"/>
                  </a:rPr>
                  <a:t>to the admin.</a:t>
                </a: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endParaRPr lang="en-US" sz="2200" dirty="0">
                  <a:latin typeface="+mn-lt"/>
                </a:endParaRP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>
                    <a:latin typeface="+mn-lt"/>
                  </a:rPr>
                  <a:t>The admin encodes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200" dirty="0">
                    <a:latin typeface="+mn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20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20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220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+mn-lt"/>
                  </a:rPr>
                  <a:t>.</a:t>
                </a: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endParaRPr lang="en-US" sz="2200" dirty="0">
                  <a:latin typeface="+mn-lt"/>
                </a:endParaRP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>
                    <a:latin typeface="+mn-lt"/>
                  </a:rPr>
                  <a:t>Later, the admin gets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>
                    <a:latin typeface="+mn-lt"/>
                  </a:rPr>
                  <a:t> from the user and has workers compute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≜(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sz="220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22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20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220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+mn-lt"/>
                  </a:rPr>
                  <a:t>.</a:t>
                </a: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endParaRPr lang="en-US" sz="2200" dirty="0">
                  <a:latin typeface="+mn-lt"/>
                </a:endParaRP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>
                    <a:latin typeface="+mn-lt"/>
                  </a:rPr>
                  <a:t>The user retrieves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sz="220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US" sz="2200" dirty="0">
                    <a:latin typeface="+mn-lt"/>
                  </a:rPr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endParaRPr lang="en-US" sz="1900" dirty="0"/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endParaRPr lang="en-US" sz="1900" dirty="0"/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endParaRPr lang="en-US" sz="2400" dirty="0"/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 r="-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6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36523f86c_0_5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sz="3200" dirty="0"/>
              <a:t>Information Sets for Reed-Muller Codes</a:t>
            </a:r>
            <a:endParaRPr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200" dirty="0"/>
                  <a:t>We aim to reduce download cost via </a:t>
                </a:r>
                <a:r>
                  <a:rPr lang="en-US" sz="2200" i="1" dirty="0"/>
                  <a:t>information sets for Reed-Muller codes</a:t>
                </a:r>
                <a:r>
                  <a:rPr lang="en-US" sz="2200" dirty="0"/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200" dirty="0"/>
                  <a:t>Given an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 linear code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sz="2200" dirty="0"/>
                  <a:t>, an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-element subset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is an </a:t>
                </a:r>
                <a:r>
                  <a:rPr lang="en-US" sz="2200" i="1" dirty="0"/>
                  <a:t>information set </a:t>
                </a:r>
                <a:r>
                  <a:rPr lang="en-US" sz="2200" dirty="0"/>
                  <a:t>for 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sz="2200" dirty="0"/>
                  <a:t> if the corresponding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 columns of the generator matrix for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sz="2200" dirty="0"/>
                  <a:t> is linearly independent.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200" dirty="0"/>
                  <a:t>Let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be the Reed-Muller code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200" dirty="0"/>
                  <a:t>, where:</a:t>
                </a: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 total degree.</a:t>
                </a: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#</m:t>
                    </m:r>
                  </m:oMath>
                </a14:m>
                <a:r>
                  <a:rPr lang="en-US" sz="2200" dirty="0"/>
                  <a:t> variables.</a:t>
                </a: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/>
                  <a:t>Let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𝔗</m:t>
                    </m:r>
                  </m:oMath>
                </a14:m>
                <a:r>
                  <a:rPr lang="en-US" sz="2200" dirty="0"/>
                  <a:t> be an information set for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200" dirty="0"/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endParaRPr lang="en-US" sz="2400" dirty="0"/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1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36523f86c_0_5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Lowering Download Cost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200" dirty="0"/>
                  <a:t>The user encodes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dirty="0"/>
                  <a:t> to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200" b="1" i="1">
                        <a:latin typeface="Cambria Math" panose="02040503050406030204" pitchFamily="18" charset="0"/>
                      </a:rPr>
                      <m:t>≜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as defined previously. Then, the system admin encodes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200" dirty="0"/>
                  <a:t> to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𝕿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and distributes them to workers.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200" dirty="0"/>
                  <a:t>Later, the admin receives from the user polynomial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/>
                  <a:t> of total degree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200" dirty="0"/>
                  <a:t>Define polynomial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200" dirty="0"/>
                  <a:t> as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≜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200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for all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US" sz="2200" dirty="0"/>
                  <a:t>.</a:t>
                </a: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>
                    <a:latin typeface="+mn-lt"/>
                  </a:rPr>
                  <a:t>Total degree of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200" dirty="0">
                    <a:latin typeface="+mn-lt"/>
                  </a:rPr>
                  <a:t> is at most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dirty="0">
                    <a:latin typeface="+mn-lt"/>
                  </a:rPr>
                  <a:t>.</a:t>
                </a: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2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>
                  <a:latin typeface="+mn-lt"/>
                </a:endParaRPr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 r="-10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72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36523f86c_0_5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Lowering Download Cost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000" dirty="0"/>
                  <a:t>The user encodes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000" b="1" i="1">
                        <a:latin typeface="Cambria Math" panose="02040503050406030204" pitchFamily="18" charset="0"/>
                      </a:rPr>
                      <m:t>≜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as defined previously. Then, the system admin encodes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𝕿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distributes them to workers.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000" dirty="0"/>
                  <a:t>Later, the admin receives from the user polynomial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of total degree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●"/>
                </a:pPr>
                <a:r>
                  <a:rPr lang="en-US" sz="2000" dirty="0"/>
                  <a:t>Define polynomial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000" dirty="0"/>
                  <a:t>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≜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for all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US" sz="2000" dirty="0"/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000" dirty="0"/>
                  <a:t>The admin obtains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𝕿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from the workers and sends it to the user.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000" dirty="0"/>
                  <a:t>The user can evaluate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000" dirty="0"/>
                  <a:t> at all points and compute the desired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000" dirty="0">
                    <a:latin typeface="+mn-lt"/>
                    <a:ea typeface="Cambria Math" panose="02040503050406030204" pitchFamily="18" charset="0"/>
                  </a:rPr>
                  <a:t>from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000" dirty="0">
                    <a:latin typeface="+mn-lt"/>
                    <a:ea typeface="Cambria Math" panose="02040503050406030204" pitchFamily="18" charset="0"/>
                  </a:rPr>
                  <a:t>and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000" dirty="0">
                    <a:latin typeface="+mn-lt"/>
                    <a:ea typeface="Cambria Math" panose="02040503050406030204" pitchFamily="18" charset="0"/>
                  </a:rPr>
                  <a:t>the key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000" i="1" dirty="0">
                    <a:latin typeface="+mn-lt"/>
                    <a:ea typeface="Cambria Math" panose="02040503050406030204" pitchFamily="18" charset="0"/>
                  </a:rPr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endParaRPr lang="en-US" sz="2000" dirty="0"/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2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36523f86c_0_5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Lowered Download Cost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000" u="sng" dirty="0"/>
                  <a:t>Theorem</a:t>
                </a:r>
                <a:r>
                  <a:rPr lang="en-US" sz="2000" dirty="0"/>
                  <a:t>: The information set scheme requires download cost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𝔗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the dimension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𝑅𝑀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000" dirty="0"/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000" u="sng" dirty="0"/>
                  <a:t>Example</a:t>
                </a:r>
                <a:r>
                  <a:rPr lang="en-US" sz="2000" dirty="0"/>
                  <a:t>: Take the dual code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𝒞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p>
                  </m:oMath>
                </a14:m>
                <a:r>
                  <a:rPr lang="en-US" sz="2000" i="1" dirty="0">
                    <a:latin typeface="+mn-lt"/>
                    <a:ea typeface="Cambria Math" panose="02040503050406030204" pitchFamily="18" charset="0"/>
                  </a:rPr>
                  <a:t> </a:t>
                </a:r>
                <a:r>
                  <a:rPr lang="en-US" sz="2000" dirty="0">
                    <a:latin typeface="+mn-lt"/>
                    <a:ea typeface="Cambria Math" panose="02040503050406030204" pitchFamily="18" charset="0"/>
                  </a:rPr>
                  <a:t>as the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sz="2000" dirty="0">
                    <a:latin typeface="+mn-lt"/>
                    <a:ea typeface="Cambria Math" panose="02040503050406030204" pitchFamily="18" charset="0"/>
                  </a:rPr>
                  <a:t> binary BCH code,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en-US" sz="2000" dirty="0">
                    <a:latin typeface="+mn-lt"/>
                    <a:ea typeface="Cambria Math" panose="02040503050406030204" pitchFamily="18" charset="0"/>
                  </a:rPr>
                  <a:t> is an integer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>
                    <a:latin typeface="+mn-lt"/>
                    <a:ea typeface="Cambria Math" panose="02040503050406030204" pitchFamily="18" charset="0"/>
                  </a:rPr>
                  <a:t> is an even positive integer.</a:t>
                </a:r>
              </a:p>
              <a:p>
                <a:pPr lvl="1" indent="-346710" algn="just"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num>
                              <m:den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  <m: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𝑝𝑜𝑙𝑦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func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+mn-lt"/>
                  </a:rPr>
                  <a:t> assuming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+mn-lt"/>
                  </a:rPr>
                  <a:t>is a constant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𝑝𝑜𝑙𝑦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func>
                  </m:oMath>
                </a14:m>
                <a:r>
                  <a:rPr lang="en-US" sz="2000" dirty="0">
                    <a:latin typeface="+mn-lt"/>
                  </a:rPr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endParaRPr lang="en-US" sz="2000" dirty="0"/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 r="-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9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36523f86c_0_5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Performance Metrics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We judge the merit of schemes by:</a:t>
                </a:r>
              </a:p>
              <a:p>
                <a:pPr lvl="1" indent="-34671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b="1" dirty="0">
                    <a:solidFill>
                      <a:schemeClr val="tx1"/>
                    </a:solidFill>
                  </a:rPr>
                  <a:t>Number of workers needed</a:t>
                </a:r>
                <a:r>
                  <a:rPr lang="en-US" sz="2200" dirty="0"/>
                  <a:t>, measured by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dirty="0"/>
                  <a:t>;</a:t>
                </a:r>
              </a:p>
              <a:p>
                <a:pPr lvl="1" indent="-34671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/>
                  <a:t>Download cost, measured by the number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20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200" dirty="0"/>
                  <a:t> symbols downloaded by the user;</a:t>
                </a:r>
              </a:p>
              <a:p>
                <a:pPr lvl="1" indent="-34671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200" dirty="0"/>
                  <a:t>Side information, measured by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, the size of random key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Ideally, we would like to minimize all three quantities.</a:t>
                </a:r>
              </a:p>
              <a:p>
                <a:pPr marL="567690" lvl="1" indent="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 r="-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36523f86c_0_5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Straggler Resilience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Repetition approach requires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workers.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Lagrange Code Computing (LCC)-based approach requires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 workers.</a:t>
                </a:r>
              </a:p>
              <a:p>
                <a:pPr lvl="1" indent="-346710" algn="just">
                  <a:lnSpc>
                    <a:spcPct val="14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dirty="0">
                    <a:latin typeface="+mn-lt"/>
                  </a:rPr>
                  <a:t>Requires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.</a:t>
                </a:r>
              </a:p>
              <a:p>
                <a:pPr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●"/>
                </a:pPr>
                <a:r>
                  <a:rPr lang="en-US" sz="2400" dirty="0"/>
                  <a:t>Notice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Method of </a:t>
                </a:r>
                <a:r>
                  <a:rPr lang="en-US" sz="2400" i="1" dirty="0"/>
                  <a:t>information super-sets</a:t>
                </a:r>
                <a:r>
                  <a:rPr lang="en-US" sz="2400" dirty="0"/>
                  <a:t>: no field size restriction.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endParaRPr lang="en-US" sz="2000" dirty="0"/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33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36523f86c_0_5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sz="2800" dirty="0"/>
              <a:t>Straggler Resilience via Information Super-sets</a:t>
            </a:r>
            <a:endParaRPr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20000"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u="sng" dirty="0"/>
                  <a:t>Definition</a:t>
                </a:r>
                <a:r>
                  <a:rPr lang="en-US" sz="2400" dirty="0"/>
                  <a:t>: 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sz="2400" dirty="0"/>
                  <a:t> be a linear code. A multiset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⊆[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is called 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i="0" dirty="0">
                    <a:latin typeface="+mj-lt"/>
                  </a:rPr>
                  <a:t>-</a:t>
                </a:r>
                <a:r>
                  <a:rPr lang="en-US" sz="2400" i="1" dirty="0">
                    <a:latin typeface="+mj-lt"/>
                  </a:rPr>
                  <a:t>information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/>
                  <a:t>super-set </a:t>
                </a: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sz="2400" dirty="0"/>
                  <a:t> if every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subset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US" sz="2400" dirty="0"/>
                  <a:t> contains an information set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≜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400" b="1" i="1">
                        <a:latin typeface="Cambria Math" panose="02040503050406030204" pitchFamily="18" charset="0"/>
                      </a:rPr>
                      <m:t>≜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as before and let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US" sz="2400" dirty="0"/>
                  <a:t> be 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-information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super-set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𝑅𝑀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The admin encodes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400" dirty="0"/>
                  <a:t> </a:t>
                </a:r>
                <a:r>
                  <a:rPr lang="en-US" sz="2400" b="0" i="0" dirty="0">
                    <a:latin typeface="+mj-lt"/>
                    <a:ea typeface="Cambria Math" panose="02040503050406030204" pitchFamily="18" charset="0"/>
                  </a:rPr>
                  <a:t>to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𝓣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distributes to workers. 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400" dirty="0"/>
                  <a:t>By definition, the admin is able to receive evaluations of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at </a:t>
                </a:r>
                <a:r>
                  <a:rPr lang="en-US" sz="2400" b="0" i="0" dirty="0">
                    <a:latin typeface="+mj-lt"/>
                  </a:rPr>
                  <a:t>an information set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𝑅𝑀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even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stragglers.</a:t>
                </a:r>
              </a:p>
              <a:p>
                <a:pPr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endParaRPr lang="en-US" sz="2000" dirty="0"/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 r="-12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4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36523f86c_0_5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373"/>
              </a:buClr>
              <a:buSzPts val="3600"/>
              <a:buFont typeface="Times New Roman"/>
              <a:buNone/>
            </a:pPr>
            <a:r>
              <a:rPr lang="en-US" dirty="0"/>
              <a:t>Explicit Information Super-sets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Google Shape;72;g2036523f86c_0_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000" dirty="0"/>
                  <a:t>Explicit construction of information super-sets is interesting.</a:t>
                </a:r>
              </a:p>
              <a:p>
                <a:pPr lvl="1" indent="-346710" algn="just">
                  <a:lnSpc>
                    <a:spcPct val="15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sz="2000" dirty="0">
                    <a:latin typeface="+mn-lt"/>
                  </a:rPr>
                  <a:t>Some results are implied by puncturing Reed-Muller codes</a:t>
                </a:r>
                <a:r>
                  <a:rPr lang="en-US" sz="2000" baseline="30000" dirty="0">
                    <a:latin typeface="+mn-lt"/>
                  </a:rPr>
                  <a:t>1</a:t>
                </a:r>
                <a:r>
                  <a:rPr lang="en-US" sz="2000" dirty="0">
                    <a:latin typeface="+mn-lt"/>
                  </a:rPr>
                  <a:t>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r>
                  <a:rPr lang="en-US" sz="2000" dirty="0"/>
                  <a:t>We have successfully come up with constructions of:</a:t>
                </a:r>
              </a:p>
              <a:p>
                <a:pPr lvl="1" indent="-346710" algn="just">
                  <a:lnSpc>
                    <a:spcPct val="14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+mn-lt"/>
                  </a:rPr>
                  <a:t>-information super-sets for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𝑅𝑀</m:t>
                    </m:r>
                    <m:r>
                      <a:rPr lang="en-US" sz="2000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(1, 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+mn-lt"/>
                  </a:rPr>
                  <a:t> of size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000" dirty="0">
                    <a:latin typeface="+mn-lt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+mn-lt"/>
                  </a:rPr>
                  <a:t> even)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 sz="2000" dirty="0">
                    <a:latin typeface="+mn-lt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+mn-lt"/>
                  </a:rPr>
                  <a:t> odd); </a:t>
                </a:r>
              </a:p>
              <a:p>
                <a:pPr lvl="1" indent="-346710" algn="just">
                  <a:lnSpc>
                    <a:spcPct val="14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+mn-lt"/>
                  </a:rPr>
                  <a:t>-information super-sets for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𝑅𝑀</m:t>
                    </m:r>
                    <m:r>
                      <a:rPr lang="en-US" sz="2000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(1, 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+mn-lt"/>
                  </a:rPr>
                  <a:t> of size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latin typeface="+mn-lt"/>
                  </a:rPr>
                  <a:t> (smaller sizes possible via greedy search);</a:t>
                </a:r>
              </a:p>
              <a:p>
                <a:pPr lvl="1" indent="-346710" algn="just">
                  <a:lnSpc>
                    <a:spcPct val="14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+mn-lt"/>
                  </a:rPr>
                  <a:t>-information super-sets for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𝑅𝑀</m:t>
                    </m:r>
                    <m:r>
                      <a:rPr lang="en-US" sz="2000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+mn-lt"/>
                  </a:rPr>
                  <a:t> using the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+mn-lt"/>
                  </a:rPr>
                  <a:t>-construction of binary Reed-Muller codes.</a:t>
                </a:r>
              </a:p>
              <a:p>
                <a:pPr lvl="0" indent="-379730">
                  <a:lnSpc>
                    <a:spcPct val="150000"/>
                  </a:lnSpc>
                  <a:spcBef>
                    <a:spcPts val="0"/>
                  </a:spcBef>
                  <a:buSzPct val="100000"/>
                  <a:buChar char="●"/>
                </a:pPr>
                <a:endParaRPr lang="en-US" sz="2000" dirty="0"/>
              </a:p>
            </p:txBody>
          </p:sp>
        </mc:Choice>
        <mc:Fallback xmlns="">
          <p:sp>
            <p:nvSpPr>
              <p:cNvPr id="72" name="Google Shape;72;g2036523f86c_0_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 r="-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45;p1">
            <a:extLst>
              <a:ext uri="{FF2B5EF4-FFF2-40B4-BE49-F238E27FC236}">
                <a16:creationId xmlns:a16="http://schemas.microsoft.com/office/drawing/2014/main" id="{00F95BAF-A4D8-EE37-C8E3-AF424CE9230C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22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6B125C-FE5F-E7B4-F388-E59DEAB3B867}"/>
              </a:ext>
            </a:extLst>
          </p:cNvPr>
          <p:cNvSpPr txBox="1"/>
          <p:nvPr/>
        </p:nvSpPr>
        <p:spPr>
          <a:xfrm>
            <a:off x="155184" y="6189723"/>
            <a:ext cx="8768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30000" dirty="0"/>
              <a:t>1</a:t>
            </a:r>
            <a:r>
              <a:rPr lang="en-US" sz="1200" dirty="0"/>
              <a:t>V. </a:t>
            </a:r>
            <a:r>
              <a:rPr lang="en-US" sz="1200" dirty="0" err="1"/>
              <a:t>Guruswami</a:t>
            </a:r>
            <a:r>
              <a:rPr lang="en-US" sz="1200" dirty="0"/>
              <a:t>, L. </a:t>
            </a:r>
            <a:r>
              <a:rPr lang="en-US" sz="1200" dirty="0" err="1"/>
              <a:t>Jin</a:t>
            </a:r>
            <a:r>
              <a:rPr lang="en-US" sz="1200" dirty="0"/>
              <a:t>, and C. Xing, “Efficiently list-decodable punctured reed-muller codes,” IEEE Transactions on Information Theory, vol. 63, no. 7, pp. 4317–4324, 2017.</a:t>
            </a:r>
          </a:p>
        </p:txBody>
      </p:sp>
    </p:spTree>
    <p:extLst>
      <p:ext uri="{BB962C8B-B14F-4D97-AF65-F5344CB8AC3E}">
        <p14:creationId xmlns:p14="http://schemas.microsoft.com/office/powerpoint/2010/main" val="37158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f01e1d22a1_0_28"/>
          <p:cNvSpPr txBox="1">
            <a:spLocks noGrp="1"/>
          </p:cNvSpPr>
          <p:nvPr>
            <p:ph type="body" idx="1"/>
          </p:nvPr>
        </p:nvSpPr>
        <p:spPr>
          <a:xfrm>
            <a:off x="493889" y="1600200"/>
            <a:ext cx="8142000" cy="477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>
              <a:lnSpc>
                <a:spcPct val="130000"/>
              </a:lnSpc>
              <a:spcBef>
                <a:spcPts val="0"/>
              </a:spcBef>
              <a:buSzPct val="100000"/>
              <a:buFont typeface="Arial"/>
              <a:buChar char="●"/>
            </a:pPr>
            <a:r>
              <a:rPr lang="en-US" sz="2200" dirty="0"/>
              <a:t>This work shifts the focus of privacy in coded computing to safeguarding the privacy of the user against the service provider as a whole.</a:t>
            </a:r>
          </a:p>
          <a:p>
            <a:pPr>
              <a:lnSpc>
                <a:spcPct val="130000"/>
              </a:lnSpc>
              <a:spcBef>
                <a:spcPts val="0"/>
              </a:spcBef>
              <a:buSzPct val="100000"/>
              <a:buFont typeface="Arial"/>
              <a:buChar char="●"/>
            </a:pPr>
            <a:endParaRPr lang="en-US" sz="2200" dirty="0"/>
          </a:p>
          <a:p>
            <a:pPr>
              <a:lnSpc>
                <a:spcPct val="130000"/>
              </a:lnSpc>
              <a:spcBef>
                <a:spcPts val="0"/>
              </a:spcBef>
              <a:buSzPct val="100000"/>
              <a:buFont typeface="Arial"/>
              <a:buChar char="●"/>
            </a:pPr>
            <a:r>
              <a:rPr lang="en-US" sz="2200" dirty="0"/>
              <a:t>We leverage perfect subset privacy, which guarantees zero information leakage from all subsets of the data up to a certain size. </a:t>
            </a:r>
          </a:p>
          <a:p>
            <a:pPr>
              <a:lnSpc>
                <a:spcPct val="130000"/>
              </a:lnSpc>
              <a:spcBef>
                <a:spcPts val="0"/>
              </a:spcBef>
              <a:buSzPct val="100000"/>
              <a:buFont typeface="Arial"/>
              <a:buChar char="●"/>
            </a:pPr>
            <a:endParaRPr lang="en-US" sz="2200" dirty="0"/>
          </a:p>
          <a:p>
            <a:pPr>
              <a:lnSpc>
                <a:spcPct val="130000"/>
              </a:lnSpc>
              <a:spcBef>
                <a:spcPts val="0"/>
              </a:spcBef>
              <a:buSzPct val="100000"/>
              <a:buFont typeface="Arial"/>
              <a:buChar char="●"/>
            </a:pPr>
            <a:r>
              <a:rPr lang="en-US" sz="2200" dirty="0"/>
              <a:t>Using techniques from Reed-Muller decoding, we provide schemes which enable polynomial computation with perfect subset privacy in straggler-resilient systems.</a:t>
            </a:r>
          </a:p>
        </p:txBody>
      </p:sp>
      <p:sp>
        <p:nvSpPr>
          <p:cNvPr id="97" name="Google Shape;97;g1f01e1d22a1_0_28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1DC13-1403-691D-9FC2-F49FAE72527A}"/>
              </a:ext>
            </a:extLst>
          </p:cNvPr>
          <p:cNvSpPr txBox="1"/>
          <p:nvPr/>
        </p:nvSpPr>
        <p:spPr>
          <a:xfrm>
            <a:off x="4114800" y="2974368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2" name="Google Shape;45;p1">
            <a:extLst>
              <a:ext uri="{FF2B5EF4-FFF2-40B4-BE49-F238E27FC236}">
                <a16:creationId xmlns:a16="http://schemas.microsoft.com/office/drawing/2014/main" id="{F8804D8C-F176-15AC-9BBB-1D3E1988DFC2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0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6" name="Google Shape;96;g1f01e1d22a1_0_2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●"/>
                </a:pPr>
                <a:r>
                  <a:rPr lang="en-US" sz="2400" dirty="0"/>
                  <a:t>We then investigate PI problems where weight vectors are taken from certain interesting settings. </a:t>
                </a: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●"/>
                </a:pPr>
                <a:r>
                  <a:rPr lang="en-US" sz="2400" dirty="0"/>
                  <a:t>In particular, a coefficient set is called </a:t>
                </a:r>
                <a:r>
                  <a:rPr lang="en-US" sz="2400" i="1" dirty="0"/>
                  <a:t>perfect</a:t>
                </a:r>
                <a:r>
                  <a:rPr lang="en-US" sz="2400" dirty="0"/>
                  <a:t> if it admits the most compact representation as a linear combination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1} </m:t>
                    </m:r>
                  </m:oMath>
                </a14:m>
                <a:r>
                  <a:rPr lang="en-US" sz="2400" dirty="0"/>
                  <a:t>vectors.</a:t>
                </a:r>
              </a:p>
              <a:p>
                <a:pPr lvl="1" indent="-346710">
                  <a:lnSpc>
                    <a:spcPct val="12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E.g., all zero-sum arithmetic progressions.</a:t>
                </a:r>
              </a:p>
              <a:p>
                <a:pPr lvl="1" indent="-346710">
                  <a:lnSpc>
                    <a:spcPct val="120000"/>
                  </a:lnSpc>
                  <a:spcBef>
                    <a:spcPts val="0"/>
                  </a:spcBef>
                  <a:buSzPct val="100000"/>
                  <a:buFont typeface="Arial"/>
                  <a:buChar char="○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Common in practice due to quantization methods such as the midrise uniform quantizer.</a:t>
                </a: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buSzPct val="100000"/>
                  <a:buFont typeface="Arial"/>
                  <a:buChar char="●"/>
                </a:pPr>
                <a:r>
                  <a:rPr lang="en-US" sz="2400" dirty="0"/>
                  <a:t>Using the joint retrieval protocol, we provide a protocol attaining the privacy tradeoff for the perfect set problem in most cases. 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6" name="Google Shape;96;g1f01e1d22a1_0_2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889" y="1600200"/>
                <a:ext cx="8142000" cy="4778100"/>
              </a:xfrm>
              <a:prstGeom prst="rect">
                <a:avLst/>
              </a:prstGeom>
              <a:blipFill>
                <a:blip r:embed="rId3"/>
                <a:stretch>
                  <a:fillRect l="-156" t="-265" r="-4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Google Shape;97;g1f01e1d22a1_0_28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Main Results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1DC13-1403-691D-9FC2-F49FAE72527A}"/>
              </a:ext>
            </a:extLst>
          </p:cNvPr>
          <p:cNvSpPr txBox="1"/>
          <p:nvPr/>
        </p:nvSpPr>
        <p:spPr>
          <a:xfrm>
            <a:off x="4114800" y="2974368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2" name="Google Shape;45;p1">
            <a:extLst>
              <a:ext uri="{FF2B5EF4-FFF2-40B4-BE49-F238E27FC236}">
                <a16:creationId xmlns:a16="http://schemas.microsoft.com/office/drawing/2014/main" id="{B23489CF-8660-F742-2EF4-E5C0A05E8DAE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4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f01e1d22a1_0_28"/>
          <p:cNvSpPr txBox="1">
            <a:spLocks noGrp="1"/>
          </p:cNvSpPr>
          <p:nvPr>
            <p:ph type="body" idx="1"/>
          </p:nvPr>
        </p:nvSpPr>
        <p:spPr>
          <a:xfrm>
            <a:off x="493889" y="1600200"/>
            <a:ext cx="8142000" cy="477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3400" lvl="1" indent="0">
              <a:lnSpc>
                <a:spcPct val="130000"/>
              </a:lnSpc>
              <a:spcBef>
                <a:spcPts val="0"/>
              </a:spcBef>
              <a:buSzPct val="100000"/>
              <a:buNone/>
            </a:pPr>
            <a:endParaRPr lang="en-US" sz="2000" dirty="0"/>
          </a:p>
        </p:txBody>
      </p:sp>
      <p:sp>
        <p:nvSpPr>
          <p:cNvPr id="97" name="Google Shape;97;g1f01e1d22a1_0_28"/>
          <p:cNvSpPr txBox="1">
            <a:spLocks noGrp="1"/>
          </p:cNvSpPr>
          <p:nvPr>
            <p:ph type="title"/>
          </p:nvPr>
        </p:nvSpPr>
        <p:spPr>
          <a:xfrm>
            <a:off x="467202" y="437444"/>
            <a:ext cx="7237500" cy="980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you!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1DC13-1403-691D-9FC2-F49FAE72527A}"/>
              </a:ext>
            </a:extLst>
          </p:cNvPr>
          <p:cNvSpPr txBox="1"/>
          <p:nvPr/>
        </p:nvSpPr>
        <p:spPr>
          <a:xfrm>
            <a:off x="4114800" y="2974368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2" name="Google Shape;45;p1">
            <a:extLst>
              <a:ext uri="{FF2B5EF4-FFF2-40B4-BE49-F238E27FC236}">
                <a16:creationId xmlns:a16="http://schemas.microsoft.com/office/drawing/2014/main" id="{3A252C15-F932-580A-94B1-A53766497DA1}"/>
              </a:ext>
            </a:extLst>
          </p:cNvPr>
          <p:cNvSpPr txBox="1">
            <a:spLocks/>
          </p:cNvSpPr>
          <p:nvPr/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3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40548</TotalTime>
  <Words>2046</Words>
  <Application>Microsoft Macintosh PowerPoint</Application>
  <PresentationFormat>On-screen Show (4:3)</PresentationFormat>
  <Paragraphs>258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 Math</vt:lpstr>
      <vt:lpstr>Rockwell</vt:lpstr>
      <vt:lpstr>Times New Roman</vt:lpstr>
      <vt:lpstr>Office Theme</vt:lpstr>
      <vt:lpstr>Perfect Subset Privacy in Polynomial Computation  IEEE International Symposium on Information Theory Athens, Greece, July 2024  Ken Deng, Vinayak Ramkumar, Netanel Raviv   </vt:lpstr>
      <vt:lpstr>Motivation</vt:lpstr>
      <vt:lpstr>Motivation</vt:lpstr>
      <vt:lpstr>Shifting the “Privacy Barrier”</vt:lpstr>
      <vt:lpstr>Shifting the “Privacy Barrier”</vt:lpstr>
      <vt:lpstr>Computation Model: Storage</vt:lpstr>
      <vt:lpstr>Computation Model: Computation</vt:lpstr>
      <vt:lpstr>Perfect Subset Privacy</vt:lpstr>
      <vt:lpstr>Perfect Subset Privacy</vt:lpstr>
      <vt:lpstr>Performance Metrics</vt:lpstr>
      <vt:lpstr>Performance Metrics</vt:lpstr>
      <vt:lpstr>Achieving r-subset Privacy</vt:lpstr>
      <vt:lpstr>Performance Metrics</vt:lpstr>
      <vt:lpstr>Trivial Scheme</vt:lpstr>
      <vt:lpstr>Information Sets for Reed-Muller Codes</vt:lpstr>
      <vt:lpstr>Lowering Download Cost</vt:lpstr>
      <vt:lpstr>Lowering Download Cost</vt:lpstr>
      <vt:lpstr>Lowered Download Cost</vt:lpstr>
      <vt:lpstr>Performance Metrics</vt:lpstr>
      <vt:lpstr>Straggler Resilience</vt:lpstr>
      <vt:lpstr>Straggler Resilience via Information Super-sets</vt:lpstr>
      <vt:lpstr>Explicit Information Super-sets</vt:lpstr>
      <vt:lpstr>Summary</vt:lpstr>
      <vt:lpstr>Main Results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Theoretic Private Inference in Quantized Models</dc:title>
  <dc:creator>default</dc:creator>
  <cp:lastModifiedBy>Deng, Ken</cp:lastModifiedBy>
  <cp:revision>244</cp:revision>
  <dcterms:created xsi:type="dcterms:W3CDTF">2013-07-09T17:46:55Z</dcterms:created>
  <dcterms:modified xsi:type="dcterms:W3CDTF">2025-10-24T04:20:07Z</dcterms:modified>
</cp:coreProperties>
</file>